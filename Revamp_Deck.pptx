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Droid Sans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11" autoAdjust="0"/>
    <p:restoredTop sz="99500" autoAdjust="0"/>
  </p:normalViewPr>
  <p:slideViewPr>
    <p:cSldViewPr snapToGrid="0" snapToObjects="1">
      <p:cViewPr>
        <p:scale>
          <a:sx n="82" d="100"/>
          <a:sy n="82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" name="Text box"/>
          <p:cNvSpPr>
            <a:spLocks noGrp="1"/>
          </p:cNvSpPr>
          <p:nvPr>
            <p:ph type="hdr"/>
          </p:nvPr>
        </p:nvSpPr>
        <p:spPr>
          <a:xfrm rot="0">
            <a:off x="0" y="0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" name="Text box"/>
          <p:cNvSpPr>
            <a:spLocks noGrp="1"/>
          </p:cNvSpPr>
          <p:nvPr>
            <p:ph type="dt" idx="1"/>
          </p:nvPr>
        </p:nvSpPr>
        <p:spPr>
          <a:xfrm rot="0">
            <a:off x="3884613" y="0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pitchFamily="0" charset="0"/>
                <a:ea typeface="等线" pitchFamily="0" charset="0"/>
                <a:cs typeface="Calibri" pitchFamily="0" charset="0"/>
              </a:rPr>
              <a:t>6/12/2026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" name="Object"/>
          <p:cNvSpPr>
            <a:spLocks noGrp="1" noChangeAspect="1"/>
          </p:cNvSpPr>
          <p:nvPr>
            <p:ph type="sldImg" idx="2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6" name="Text box"/>
          <p:cNvSpPr>
            <a:spLocks noGrp="1"/>
          </p:cNvSpPr>
          <p:nvPr>
            <p:ph type="body" idx="3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ftr" idx="4"/>
          </p:nvPr>
        </p:nvSpPr>
        <p:spPr>
          <a:xfrm rot="0">
            <a:off x="0" y="8685213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386447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" name="Rectangles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2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3" name="Rectangles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Droid Sans" pitchFamily="0" charset="0"/>
                <a:cs typeface="Lucida Sans" pitchFamily="0" charset="0"/>
              </a:r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36650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0" name="Rectangles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2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53" name="Rectangles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Droid Sans" pitchFamily="0" charset="0"/>
                <a:cs typeface="Lucida Sans" pitchFamily="0" charset="0"/>
              </a:r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26559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8" name="Rectangles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9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0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71" name="Rectangles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Droid Sans" pitchFamily="0" charset="0"/>
                <a:cs typeface="Lucida Sans" pitchFamily="0" charset="0"/>
              </a:r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878022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6" name="Rectangles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7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98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99" name="Rectangles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Droid Sans" pitchFamily="0" charset="0"/>
                <a:cs typeface="Lucida Sans" pitchFamily="0" charset="0"/>
              </a:r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402844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5" name="Rectangles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6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27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28" name="Rectangles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Droid Sans" pitchFamily="0" charset="0"/>
                <a:cs typeface="Lucida Sans" pitchFamily="0" charset="0"/>
              </a:r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185325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3" name="Rectangles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4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75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76" name="Rectangles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Droid Sans" pitchFamily="0" charset="0"/>
                <a:cs typeface="Lucida Sans" pitchFamily="0" charset="0"/>
              </a:r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055871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7" name="Rectangles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8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99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00" name="Rectangles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Droid Sans" pitchFamily="0" charset="0"/>
                <a:cs typeface="Lucida Sans" pitchFamily="0" charset="0"/>
              </a:r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673671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5" name="Rectangles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6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27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28" name="Rectangles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Droid Sans" pitchFamily="0" charset="0"/>
                <a:cs typeface="Lucida Sans" pitchFamily="0" charset="0"/>
              </a:r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056725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3" name="Rectangles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4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55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56" name="Rectangles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Droid Sans" pitchFamily="0" charset="0"/>
                <a:cs typeface="Lucida Sans" pitchFamily="0" charset="0"/>
              </a:r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508940"/>
      </p:ext>
    </p:extLst>
  </p:cSld>
  <p:clrMapOvr>
    <a:masterClrMapping/>
  </p:clrMapOvr>
</p:notes>
</file>

<file path=ppt/notesSlides/notesSlide10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1" name="Rectangles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2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83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84" name="Rectangles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Droid Sans" pitchFamily="0" charset="0"/>
                <a:cs typeface="Lucida Sans" pitchFamily="0" charset="0"/>
              </a:r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423404"/>
      </p:ext>
    </p:extLst>
  </p:cSld>
  <p:clrMapOvr>
    <a:masterClrMapping/>
  </p:clrMapOvr>
</p:notes>
</file>

<file path=ppt/notesSlides/notesSlide1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8" name="Rectangles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9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00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01" name="Rectangles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Droid Sans" pitchFamily="0" charset="0"/>
                <a:cs typeface="Lucida Sans" pitchFamily="0" charset="0"/>
              </a:r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869462"/>
      </p:ext>
    </p:extLst>
  </p:cSld>
  <p:clrMapOvr>
    <a:masterClrMapping/>
  </p:clrMapOvr>
</p:notes>
</file>

<file path=ppt/notesSlides/notesSlide1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0" name="Rectangles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1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42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43" name="Rectangles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Droid Sans" pitchFamily="0" charset="0"/>
                <a:cs typeface="Lucida Sans" pitchFamily="0" charset="0"/>
              </a:r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14991"/>
      </p:ext>
    </p:extLst>
  </p:cSld>
  <p:clrMapOvr>
    <a:masterClrMapping/>
  </p:clrMapOvr>
</p:notes>
</file>

<file path=ppt/notesSlides/notesSlide1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76" name="Rectangles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77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78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79" name="Rectangles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Droid Sans" pitchFamily="0" charset="0"/>
                <a:cs typeface="Lucida Sans" pitchFamily="0" charset="0"/>
              </a:r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296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155100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72546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87682261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292548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668853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040747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266763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42795487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60841138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658585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78730"/>
      </p:ext>
    </p:extLst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6685082"/>
      </p:ext>
    </p:extLst>
  </p:cSld>
  <p:clrMapOvr>
    <a:masterClrMapping/>
  </p:clrMapOvr>
  <p:hf sldNum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1117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 Light" pitchFamily="0" charset="0"/>
          <a:ea typeface="等线 Light" pitchFamily="0" charset="0"/>
          <a:cs typeface="Calibri Light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image" Target="../media/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3.png"/><Relationship Id="rId2" Type="http://schemas.openxmlformats.org/officeDocument/2006/relationships/image" Target="../media/4.png"/><Relationship Id="rId3" Type="http://schemas.openxmlformats.org/officeDocument/2006/relationships/image" Target="../media/5.png"/><Relationship Id="rId4" Type="http://schemas.openxmlformats.org/officeDocument/2006/relationships/image" Target="../media/6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7.png"/><Relationship Id="rId2" Type="http://schemas.openxmlformats.org/officeDocument/2006/relationships/image" Target="../media/8.png"/><Relationship Id="rId3" Type="http://schemas.openxmlformats.org/officeDocument/2006/relationships/image" Target="../media/9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10.png"/><Relationship Id="rId2" Type="http://schemas.openxmlformats.org/officeDocument/2006/relationships/image" Target="../media/11.png"/><Relationship Id="rId3" Type="http://schemas.openxmlformats.org/officeDocument/2006/relationships/image" Target="../media/12.png"/><Relationship Id="rId4" Type="http://schemas.openxmlformats.org/officeDocument/2006/relationships/image" Target="../media/13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14.png"/><Relationship Id="rId2" Type="http://schemas.openxmlformats.org/officeDocument/2006/relationships/image" Target="../media/15.png"/><Relationship Id="rId3" Type="http://schemas.openxmlformats.org/officeDocument/2006/relationships/image" Target="../media/16.png"/><Relationship Id="rId4" Type="http://schemas.openxmlformats.org/officeDocument/2006/relationships/image" Target="../media/17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18.png"/><Relationship Id="rId2" Type="http://schemas.openxmlformats.org/officeDocument/2006/relationships/image" Target="../media/19.png"/><Relationship Id="rId3" Type="http://schemas.openxmlformats.org/officeDocument/2006/relationships/image" Target="../media/20.png"/><Relationship Id="rId4" Type="http://schemas.openxmlformats.org/officeDocument/2006/relationships/image" Target="../media/21.png"/><Relationship Id="rId5" Type="http://schemas.openxmlformats.org/officeDocument/2006/relationships/image" Target="../media/22.png"/><Relationship Id="rId6" Type="http://schemas.openxmlformats.org/officeDocument/2006/relationships/image" Target="../media/23.png"/><Relationship Id="rId7" Type="http://schemas.openxmlformats.org/officeDocument/2006/relationships/image" Target="../media/24.png"/><Relationship Id="rId8" Type="http://schemas.openxmlformats.org/officeDocument/2006/relationships/image" Target="../media/25.png"/><Relationship Id="rId9" Type="http://schemas.openxmlformats.org/officeDocument/2006/relationships/slideLayout" Target="../slideLayouts/slideLayout1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26.png"/><Relationship Id="rId2" Type="http://schemas.openxmlformats.org/officeDocument/2006/relationships/image" Target="../media/27.png"/><Relationship Id="rId3" Type="http://schemas.openxmlformats.org/officeDocument/2006/relationships/image" Target="../media/28.png"/><Relationship Id="rId4" Type="http://schemas.openxmlformats.org/officeDocument/2006/relationships/image" Target="../media/29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30.png"/><Relationship Id="rId2" Type="http://schemas.openxmlformats.org/officeDocument/2006/relationships/image" Target="../media/31.png"/><Relationship Id="rId3" Type="http://schemas.openxmlformats.org/officeDocument/2006/relationships/image" Target="../media/32.png"/><Relationship Id="rId4" Type="http://schemas.openxmlformats.org/officeDocument/2006/relationships/image" Target="../media/33.png"/><Relationship Id="rId5" Type="http://schemas.openxmlformats.org/officeDocument/2006/relationships/image" Target="../media/34.pn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35.png"/><Relationship Id="rId2" Type="http://schemas.openxmlformats.org/officeDocument/2006/relationships/image" Target="../media/36.png"/><Relationship Id="rId3" Type="http://schemas.openxmlformats.org/officeDocument/2006/relationships/image" Target="../media/37.png"/><Relationship Id="rId4" Type="http://schemas.openxmlformats.org/officeDocument/2006/relationships/image" Target="../media/38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39.png"/><Relationship Id="rId2" Type="http://schemas.openxmlformats.org/officeDocument/2006/relationships/image" Target="../media/40.png"/><Relationship Id="rId3" Type="http://schemas.openxmlformats.org/officeDocument/2006/relationships/image" Target="../media/41.png"/><Relationship Id="rId4" Type="http://schemas.openxmlformats.org/officeDocument/2006/relationships/image" Target="../media/42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43.png"/><Relationship Id="rId2" Type="http://schemas.openxmlformats.org/officeDocument/2006/relationships/image" Target="../media/44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45.png"/><Relationship Id="rId2" Type="http://schemas.openxmlformats.org/officeDocument/2006/relationships/image" Target="../media/46.png"/><Relationship Id="rId3" Type="http://schemas.openxmlformats.org/officeDocument/2006/relationships/image" Target="../media/47.png"/><Relationship Id="rId4" Type="http://schemas.openxmlformats.org/officeDocument/2006/relationships/image" Target="../media/48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49.png"/><Relationship Id="rId2" Type="http://schemas.openxmlformats.org/officeDocument/2006/relationships/image" Target="../media/50.png"/><Relationship Id="rId3" Type="http://schemas.openxmlformats.org/officeDocument/2006/relationships/image" Target="../media/51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3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"/>
          <p:cNvSpPr>
            <a:spLocks/>
          </p:cNvSpPr>
          <p:nvPr/>
        </p:nvSpPr>
        <p:spPr>
          <a:xfrm rot="0">
            <a:off x="9692640" y="-1554480"/>
            <a:ext cx="4023358" cy="4023359"/>
          </a:xfrm>
          <a:prstGeom prst="ellipse"/>
          <a:solidFill>
            <a:srgbClr val="065A82">
              <a:alpha val="40000"/>
            </a:srgbClr>
          </a:solidFill>
          <a:ln w="12700" cmpd="sng" cap="flat">
            <a:noFill/>
            <a:prstDash val="solid"/>
            <a:miter/>
          </a:ln>
        </p:spPr>
      </p:sp>
      <p:sp>
        <p:nvSpPr>
          <p:cNvPr id="9" name="Oval"/>
          <p:cNvSpPr>
            <a:spLocks/>
          </p:cNvSpPr>
          <p:nvPr/>
        </p:nvSpPr>
        <p:spPr>
          <a:xfrm rot="0">
            <a:off x="10515600" y="-822960"/>
            <a:ext cx="2377439" cy="2377440"/>
          </a:xfrm>
          <a:prstGeom prst="ellipse"/>
          <a:solidFill>
            <a:srgbClr val="1C7293">
              <a:alpha val="55000"/>
            </a:srgbClr>
          </a:solidFill>
          <a:ln w="12700" cmpd="sng" cap="flat">
            <a:noFill/>
            <a:prstDash val="solid"/>
            <a:miter/>
          </a:ln>
        </p:spPr>
      </p:sp>
      <p:sp>
        <p:nvSpPr>
          <p:cNvPr id="10" name="Rectangles"/>
          <p:cNvSpPr>
            <a:spLocks/>
          </p:cNvSpPr>
          <p:nvPr/>
        </p:nvSpPr>
        <p:spPr>
          <a:xfrm rot="0">
            <a:off x="640080" y="1874520"/>
            <a:ext cx="10058401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0" cap="none" spc="400" baseline="0">
                <a:solidFill>
                  <a:srgbClr val="8FB8C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ILMA REVAMP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" name="Rectangles"/>
          <p:cNvSpPr>
            <a:spLocks/>
          </p:cNvSpPr>
          <p:nvPr/>
        </p:nvSpPr>
        <p:spPr>
          <a:xfrm rot="0">
            <a:off x="640080" y="2286000"/>
            <a:ext cx="10607040" cy="1554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From Tableau to a Reporting Platform</a:t>
            </a:r>
            <a:endParaRPr lang="zh-CN" altLang="en-US" sz="4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" name="Rectangles"/>
          <p:cNvSpPr>
            <a:spLocks/>
          </p:cNvSpPr>
          <p:nvPr/>
        </p:nvSpPr>
        <p:spPr>
          <a:xfrm rot="0">
            <a:off x="658368" y="3977640"/>
            <a:ext cx="10058401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1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What's changing  ·  Why it matters  ·  How we deliver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" name="Rounded rectangle"/>
          <p:cNvSpPr>
            <a:spLocks/>
          </p:cNvSpPr>
          <p:nvPr/>
        </p:nvSpPr>
        <p:spPr>
          <a:xfrm rot="0">
            <a:off x="640080" y="5029200"/>
            <a:ext cx="4069080" cy="640080"/>
          </a:xfrm>
          <a:prstGeom prst="roundRect">
            <a:avLst>
              <a:gd name="adj" fmla="val 14287"/>
            </a:avLst>
          </a:prstGeom>
          <a:solidFill>
            <a:srgbClr val="2C386E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pic>
        <p:nvPicPr>
          <p:cNvPr id="14" name="Images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841248" y="5175504"/>
            <a:ext cx="347472" cy="347471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5" name="Rectangles"/>
          <p:cNvSpPr>
            <a:spLocks/>
          </p:cNvSpPr>
          <p:nvPr/>
        </p:nvSpPr>
        <p:spPr>
          <a:xfrm rot="0">
            <a:off x="1316736" y="5029200"/>
            <a:ext cx="329184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Business case → review &amp; approve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" name="Rounded rectangle"/>
          <p:cNvSpPr>
            <a:spLocks/>
          </p:cNvSpPr>
          <p:nvPr/>
        </p:nvSpPr>
        <p:spPr>
          <a:xfrm rot="0">
            <a:off x="4937760" y="5029200"/>
            <a:ext cx="4069080" cy="640080"/>
          </a:xfrm>
          <a:prstGeom prst="roundRect">
            <a:avLst>
              <a:gd name="adj" fmla="val 14287"/>
            </a:avLst>
          </a:prstGeom>
          <a:solidFill>
            <a:srgbClr val="2C386E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pic>
        <p:nvPicPr>
          <p:cNvPr id="17" name="Images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5138927" y="5175504"/>
            <a:ext cx="347471" cy="347471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8" name="Rectangles"/>
          <p:cNvSpPr>
            <a:spLocks/>
          </p:cNvSpPr>
          <p:nvPr/>
        </p:nvSpPr>
        <p:spPr>
          <a:xfrm rot="0">
            <a:off x="5614416" y="5029200"/>
            <a:ext cx="329184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Technical design → tech review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" name="Rectangles"/>
          <p:cNvSpPr>
            <a:spLocks/>
          </p:cNvSpPr>
          <p:nvPr/>
        </p:nvSpPr>
        <p:spPr>
          <a:xfrm rot="0">
            <a:off x="640080" y="6172200"/>
            <a:ext cx="7315200" cy="3657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8FB8C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Created by Aung Maw  ·  ILMA Team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918340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"/>
          <p:cNvSpPr>
            <a:spLocks/>
          </p:cNvSpPr>
          <p:nvPr/>
        </p:nvSpPr>
        <p:spPr>
          <a:xfrm rot="0">
            <a:off x="8851392" y="292608"/>
            <a:ext cx="2834639" cy="32918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sp>
        <p:nvSpPr>
          <p:cNvPr id="25" name="Rectangles"/>
          <p:cNvSpPr>
            <a:spLocks/>
          </p:cNvSpPr>
          <p:nvPr/>
        </p:nvSpPr>
        <p:spPr>
          <a:xfrm rot="0">
            <a:off x="8851392" y="292608"/>
            <a:ext cx="2834639" cy="32918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0" cap="none" spc="10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FOR EVERYONE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" name="Rectangles"/>
          <p:cNvSpPr>
            <a:spLocks/>
          </p:cNvSpPr>
          <p:nvPr/>
        </p:nvSpPr>
        <p:spPr>
          <a:xfrm rot="0">
            <a:off x="548640" y="384048"/>
            <a:ext cx="7772400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200" baseline="0">
                <a:solidFill>
                  <a:srgbClr val="1C729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EXECUTIVE SUMMARY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" name="Rectangles"/>
          <p:cNvSpPr>
            <a:spLocks/>
          </p:cNvSpPr>
          <p:nvPr/>
        </p:nvSpPr>
        <p:spPr>
          <a:xfrm rot="0">
            <a:off x="548640" y="676656"/>
            <a:ext cx="10789920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One platform, owned end-to-end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" name="Rectangles"/>
          <p:cNvSpPr>
            <a:spLocks/>
          </p:cNvSpPr>
          <p:nvPr/>
        </p:nvSpPr>
        <p:spPr>
          <a:xfrm rot="0">
            <a:off x="548640" y="1554480"/>
            <a:ext cx="11064240" cy="914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1B243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We are retiring Tableau-based reporting and delivering the ILMA dashboard as a module inside React web application — powered by an in-house Python / DuckDB processing engine, secured by our (enhanced) Java authentication services, all running on OpenShift.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" name="Rounded rectangle"/>
          <p:cNvSpPr>
            <a:spLocks/>
          </p:cNvSpPr>
          <p:nvPr/>
        </p:nvSpPr>
        <p:spPr>
          <a:xfrm rot="0">
            <a:off x="548640" y="2743200"/>
            <a:ext cx="267004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30" name="Oval"/>
          <p:cNvSpPr>
            <a:spLocks/>
          </p:cNvSpPr>
          <p:nvPr/>
        </p:nvSpPr>
        <p:spPr>
          <a:xfrm rot="0">
            <a:off x="804672" y="3017519"/>
            <a:ext cx="713231" cy="713231"/>
          </a:xfrm>
          <a:prstGeom prst="ellipse"/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pic>
        <p:nvPicPr>
          <p:cNvPr id="31" name="Images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978408" y="3191256"/>
            <a:ext cx="365758" cy="36575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2" name="Rectangles"/>
          <p:cNvSpPr>
            <a:spLocks/>
          </p:cNvSpPr>
          <p:nvPr/>
        </p:nvSpPr>
        <p:spPr>
          <a:xfrm rot="0">
            <a:off x="749808" y="3840480"/>
            <a:ext cx="2267712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$0</a:t>
            </a:r>
            <a:endParaRPr lang="zh-CN" altLang="en-US" sz="2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" name="Rectangles"/>
          <p:cNvSpPr>
            <a:spLocks/>
          </p:cNvSpPr>
          <p:nvPr/>
        </p:nvSpPr>
        <p:spPr>
          <a:xfrm rot="0">
            <a:off x="749808" y="4343400"/>
            <a:ext cx="2267712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Tableau licensing — cost removed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" name="Rounded rectangle"/>
          <p:cNvSpPr>
            <a:spLocks/>
          </p:cNvSpPr>
          <p:nvPr/>
        </p:nvSpPr>
        <p:spPr>
          <a:xfrm rot="0">
            <a:off x="3383279" y="2743200"/>
            <a:ext cx="267004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35" name="Oval"/>
          <p:cNvSpPr>
            <a:spLocks/>
          </p:cNvSpPr>
          <p:nvPr/>
        </p:nvSpPr>
        <p:spPr>
          <a:xfrm rot="0">
            <a:off x="3639312" y="3017519"/>
            <a:ext cx="713231" cy="713231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pic>
        <p:nvPicPr>
          <p:cNvPr id="36" name="Images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3813048" y="3191256"/>
            <a:ext cx="365759" cy="36575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7" name="Rectangles"/>
          <p:cNvSpPr>
            <a:spLocks/>
          </p:cNvSpPr>
          <p:nvPr/>
        </p:nvSpPr>
        <p:spPr>
          <a:xfrm rot="0">
            <a:off x="3584448" y="3840480"/>
            <a:ext cx="2267712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In-house</a:t>
            </a:r>
            <a:endParaRPr lang="zh-CN" altLang="en-US" sz="2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8" name="Rectangles"/>
          <p:cNvSpPr>
            <a:spLocks/>
          </p:cNvSpPr>
          <p:nvPr/>
        </p:nvSpPr>
        <p:spPr>
          <a:xfrm rot="0">
            <a:off x="3584448" y="4343400"/>
            <a:ext cx="2267712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Sensitive data stays inside DBS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9" name="Rounded rectangle"/>
          <p:cNvSpPr>
            <a:spLocks/>
          </p:cNvSpPr>
          <p:nvPr/>
        </p:nvSpPr>
        <p:spPr>
          <a:xfrm rot="0">
            <a:off x="6217920" y="2743200"/>
            <a:ext cx="267004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40" name="Oval"/>
          <p:cNvSpPr>
            <a:spLocks/>
          </p:cNvSpPr>
          <p:nvPr/>
        </p:nvSpPr>
        <p:spPr>
          <a:xfrm rot="0">
            <a:off x="6473951" y="3017519"/>
            <a:ext cx="713232" cy="713231"/>
          </a:xfrm>
          <a:prstGeom prst="ellipse"/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pic>
        <p:nvPicPr>
          <p:cNvPr id="41" name="Images" descr="preencod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6647688" y="3191256"/>
            <a:ext cx="365758" cy="36575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42" name="Rectangles"/>
          <p:cNvSpPr>
            <a:spLocks/>
          </p:cNvSpPr>
          <p:nvPr/>
        </p:nvSpPr>
        <p:spPr>
          <a:xfrm rot="0">
            <a:off x="6419087" y="3840480"/>
            <a:ext cx="2267712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 system</a:t>
            </a:r>
            <a:endParaRPr lang="zh-CN" altLang="en-US" sz="2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3" name="Rectangles"/>
          <p:cNvSpPr>
            <a:spLocks/>
          </p:cNvSpPr>
          <p:nvPr/>
        </p:nvSpPr>
        <p:spPr>
          <a:xfrm rot="0">
            <a:off x="6419087" y="4343400"/>
            <a:ext cx="2267712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Faster delivery, no vendor wait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4" name="Rounded rectangle"/>
          <p:cNvSpPr>
            <a:spLocks/>
          </p:cNvSpPr>
          <p:nvPr/>
        </p:nvSpPr>
        <p:spPr>
          <a:xfrm rot="0">
            <a:off x="9052560" y="2743200"/>
            <a:ext cx="267004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45" name="Oval"/>
          <p:cNvSpPr>
            <a:spLocks/>
          </p:cNvSpPr>
          <p:nvPr/>
        </p:nvSpPr>
        <p:spPr>
          <a:xfrm rot="0">
            <a:off x="9308592" y="3017519"/>
            <a:ext cx="713232" cy="713231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pic>
        <p:nvPicPr>
          <p:cNvPr id="46" name="Images" descr="preencoded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9482328" y="3191256"/>
            <a:ext cx="365758" cy="36575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47" name="Rectangles"/>
          <p:cNvSpPr>
            <a:spLocks/>
          </p:cNvSpPr>
          <p:nvPr/>
        </p:nvSpPr>
        <p:spPr>
          <a:xfrm rot="0">
            <a:off x="9253728" y="3840480"/>
            <a:ext cx="2267712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Unified UX</a:t>
            </a:r>
            <a:endParaRPr lang="zh-CN" altLang="en-US" sz="2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8" name="Rectangles"/>
          <p:cNvSpPr>
            <a:spLocks/>
          </p:cNvSpPr>
          <p:nvPr/>
        </p:nvSpPr>
        <p:spPr>
          <a:xfrm rot="0">
            <a:off x="9253728" y="4343400"/>
            <a:ext cx="2267712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One login, one web application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9" name="Rectangles"/>
          <p:cNvSpPr>
            <a:spLocks/>
          </p:cNvSpPr>
          <p:nvPr/>
        </p:nvSpPr>
        <p:spPr>
          <a:xfrm rot="0">
            <a:off x="548640" y="5257800"/>
            <a:ext cx="11064240" cy="3657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1" u="none" strike="noStrike" kern="1200" cap="none" spc="0" baseline="0">
                <a:solidFill>
                  <a:srgbClr val="1C729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Read on: business case (slides 3–7) for approval, then technical design (slides 8–13) for review.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91612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ounded rectangle"/>
          <p:cNvSpPr>
            <a:spLocks/>
          </p:cNvSpPr>
          <p:nvPr/>
        </p:nvSpPr>
        <p:spPr>
          <a:xfrm rot="0">
            <a:off x="8851392" y="292608"/>
            <a:ext cx="2834639" cy="329182"/>
          </a:xfrm>
          <a:prstGeom prst="roundRect">
            <a:avLst>
              <a:gd name="adj" fmla="val 50000"/>
            </a:avLst>
          </a:prstGeom>
          <a:solidFill>
            <a:srgbClr val="0F9D8C"/>
          </a:solidFill>
          <a:ln w="12700" cmpd="sng" cap="flat">
            <a:noFill/>
            <a:prstDash val="solid"/>
            <a:miter/>
          </a:ln>
        </p:spPr>
      </p:sp>
      <p:sp>
        <p:nvSpPr>
          <p:cNvPr id="55" name="Rectangles"/>
          <p:cNvSpPr>
            <a:spLocks/>
          </p:cNvSpPr>
          <p:nvPr/>
        </p:nvSpPr>
        <p:spPr>
          <a:xfrm rot="0">
            <a:off x="8851392" y="292608"/>
            <a:ext cx="2834639" cy="32918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0" cap="none" spc="10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FOR APPROVAL  ·  Business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" name="Rectangles"/>
          <p:cNvSpPr>
            <a:spLocks/>
          </p:cNvSpPr>
          <p:nvPr/>
        </p:nvSpPr>
        <p:spPr>
          <a:xfrm rot="0">
            <a:off x="548640" y="384048"/>
            <a:ext cx="7772400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200" baseline="0">
                <a:solidFill>
                  <a:srgbClr val="1C729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PART A · THE WHAT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7" name="Rectangles"/>
          <p:cNvSpPr>
            <a:spLocks/>
          </p:cNvSpPr>
          <p:nvPr/>
        </p:nvSpPr>
        <p:spPr>
          <a:xfrm rot="0">
            <a:off x="548640" y="676656"/>
            <a:ext cx="10789920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What's changing, in plain terms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8" name="Rounded rectangle"/>
          <p:cNvSpPr>
            <a:spLocks/>
          </p:cNvSpPr>
          <p:nvPr/>
        </p:nvSpPr>
        <p:spPr>
          <a:xfrm rot="0">
            <a:off x="548640" y="1691639"/>
            <a:ext cx="5257800" cy="3337559"/>
          </a:xfrm>
          <a:prstGeom prst="roundRect">
            <a:avLst>
              <a:gd name="adj" fmla="val 2740"/>
            </a:avLst>
          </a:prstGeom>
          <a:solidFill>
            <a:srgbClr val="F6EAEA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pic>
        <p:nvPicPr>
          <p:cNvPr id="59" name="Images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868680" y="1965960"/>
            <a:ext cx="411478" cy="41148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60" name="Rectangles"/>
          <p:cNvSpPr>
            <a:spLocks/>
          </p:cNvSpPr>
          <p:nvPr/>
        </p:nvSpPr>
        <p:spPr>
          <a:xfrm rot="0">
            <a:off x="1417320" y="1965960"/>
            <a:ext cx="2743200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0" cap="none" spc="200" baseline="0">
                <a:solidFill>
                  <a:srgbClr val="9A3B3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TODAY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1" name="Rectangles"/>
          <p:cNvSpPr>
            <a:spLocks/>
          </p:cNvSpPr>
          <p:nvPr/>
        </p:nvSpPr>
        <p:spPr>
          <a:xfrm rot="0">
            <a:off x="868680" y="2560320"/>
            <a:ext cx="4617720" cy="23317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1" i="0" u="none" strike="noStrike" kern="1200" cap="none" spc="0" baseline="0">
                <a:solidFill>
                  <a:srgbClr val="1B243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Reports rendered in Tableau</a:t>
            </a:r>
            <a:endParaRPr lang="en-US" altLang="zh-CN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 third-party tool, fed by separate ILMA Python jobs.</a:t>
            </a:r>
            <a:endParaRPr lang="en-US" altLang="zh-CN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" b="0" i="0" u="none" strike="noStrike" kern="1200" cap="none" spc="0" baseline="0">
                <a:solidFill>
                  <a:srgbClr val="1B243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 </a:t>
            </a:r>
            <a:endParaRPr lang="en-US" altLang="zh-CN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1" i="0" u="none" strike="noStrike" kern="1200" cap="none" spc="0" baseline="0">
                <a:solidFill>
                  <a:srgbClr val="1B243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Two systems to keep in sync</a:t>
            </a:r>
            <a:endParaRPr lang="en-US" altLang="zh-CN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Visualization and data lived apart — changes touched both.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62" name="Images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5943599" y="3063239"/>
            <a:ext cx="566927" cy="566928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63" name="Rounded rectangle"/>
          <p:cNvSpPr>
            <a:spLocks/>
          </p:cNvSpPr>
          <p:nvPr/>
        </p:nvSpPr>
        <p:spPr>
          <a:xfrm rot="0">
            <a:off x="6400800" y="1691639"/>
            <a:ext cx="5257800" cy="3337559"/>
          </a:xfrm>
          <a:prstGeom prst="roundRect">
            <a:avLst>
              <a:gd name="adj" fmla="val 2740"/>
            </a:avLst>
          </a:prstGeom>
          <a:solidFill>
            <a:srgbClr val="E3F0F1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pic>
        <p:nvPicPr>
          <p:cNvPr id="64" name="Images" descr="preencod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6720839" y="1965960"/>
            <a:ext cx="411480" cy="41148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65" name="Rectangles"/>
          <p:cNvSpPr>
            <a:spLocks/>
          </p:cNvSpPr>
          <p:nvPr/>
        </p:nvSpPr>
        <p:spPr>
          <a:xfrm rot="0">
            <a:off x="7269480" y="1965960"/>
            <a:ext cx="2743200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0" cap="none" spc="200" baseline="0">
                <a:solidFill>
                  <a:srgbClr val="065A8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TOMORROW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6" name="Rectangles"/>
          <p:cNvSpPr>
            <a:spLocks/>
          </p:cNvSpPr>
          <p:nvPr/>
        </p:nvSpPr>
        <p:spPr>
          <a:xfrm rot="0">
            <a:off x="6720839" y="2560320"/>
            <a:ext cx="4617720" cy="23317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1" i="0" u="none" strike="noStrike" kern="1200" cap="none" spc="0" baseline="0">
                <a:solidFill>
                  <a:srgbClr val="1B243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Same reports, inside our own web app</a:t>
            </a:r>
            <a:endParaRPr lang="en-US" altLang="zh-CN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Processed and controlled entirely by DBS.</a:t>
            </a:r>
            <a:endParaRPr lang="en-US" altLang="zh-CN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" b="0" i="0" u="none" strike="noStrike" kern="1200" cap="none" spc="0" baseline="0">
                <a:solidFill>
                  <a:srgbClr val="1B243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 </a:t>
            </a:r>
            <a:endParaRPr lang="en-US" altLang="zh-CN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1" i="0" u="none" strike="noStrike" kern="1200" cap="none" spc="0" baseline="0">
                <a:solidFill>
                  <a:srgbClr val="1B243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One place to log in</a:t>
            </a:r>
            <a:endParaRPr lang="en-US" altLang="zh-CN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Our dashboard sits alongside the tools users already use.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7" name="Rectangles"/>
          <p:cNvSpPr>
            <a:spLocks/>
          </p:cNvSpPr>
          <p:nvPr/>
        </p:nvSpPr>
        <p:spPr>
          <a:xfrm rot="0">
            <a:off x="548640" y="5257800"/>
            <a:ext cx="11064240" cy="3657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1" u="none" strike="noStrike" kern="1200" cap="none" spc="0" baseline="0">
                <a:solidFill>
                  <a:srgbClr val="1C729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Nothing changes for the reports users receive — only where they're built and shown.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128299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ounded rectangle"/>
          <p:cNvSpPr>
            <a:spLocks/>
          </p:cNvSpPr>
          <p:nvPr/>
        </p:nvSpPr>
        <p:spPr>
          <a:xfrm rot="0">
            <a:off x="8851392" y="292608"/>
            <a:ext cx="2834639" cy="329182"/>
          </a:xfrm>
          <a:prstGeom prst="roundRect">
            <a:avLst>
              <a:gd name="adj" fmla="val 50000"/>
            </a:avLst>
          </a:prstGeom>
          <a:solidFill>
            <a:srgbClr val="0F9D8C"/>
          </a:solidFill>
          <a:ln w="12700" cmpd="sng" cap="flat">
            <a:noFill/>
            <a:prstDash val="solid"/>
            <a:miter/>
          </a:ln>
        </p:spPr>
      </p:sp>
      <p:sp>
        <p:nvSpPr>
          <p:cNvPr id="73" name="Rectangles"/>
          <p:cNvSpPr>
            <a:spLocks/>
          </p:cNvSpPr>
          <p:nvPr/>
        </p:nvSpPr>
        <p:spPr>
          <a:xfrm rot="0">
            <a:off x="8851392" y="292608"/>
            <a:ext cx="2834639" cy="32918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0" cap="none" spc="10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FOR APPROVAL  ·  Business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4" name="Rectangles"/>
          <p:cNvSpPr>
            <a:spLocks/>
          </p:cNvSpPr>
          <p:nvPr/>
        </p:nvSpPr>
        <p:spPr>
          <a:xfrm rot="0">
            <a:off x="548640" y="384048"/>
            <a:ext cx="7772400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200" baseline="0">
                <a:solidFill>
                  <a:srgbClr val="1C729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PART A · THE WHY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5" name="Rectangles"/>
          <p:cNvSpPr>
            <a:spLocks/>
          </p:cNvSpPr>
          <p:nvPr/>
        </p:nvSpPr>
        <p:spPr>
          <a:xfrm rot="0">
            <a:off x="548640" y="676656"/>
            <a:ext cx="10789920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Why change: today's pain points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6" name="Rounded rectangle"/>
          <p:cNvSpPr>
            <a:spLocks/>
          </p:cNvSpPr>
          <p:nvPr/>
        </p:nvSpPr>
        <p:spPr>
          <a:xfrm rot="0">
            <a:off x="548640" y="1691639"/>
            <a:ext cx="5349239" cy="1481328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77" name="Oval"/>
          <p:cNvSpPr>
            <a:spLocks/>
          </p:cNvSpPr>
          <p:nvPr/>
        </p:nvSpPr>
        <p:spPr>
          <a:xfrm rot="0">
            <a:off x="822960" y="2075688"/>
            <a:ext cx="713232" cy="713232"/>
          </a:xfrm>
          <a:prstGeom prst="ellipse"/>
          <a:solidFill>
            <a:srgbClr val="9A3B3B"/>
          </a:solidFill>
          <a:ln w="12700" cmpd="sng" cap="flat">
            <a:noFill/>
            <a:prstDash val="solid"/>
            <a:miter/>
          </a:ln>
        </p:spPr>
      </p:sp>
      <p:pic>
        <p:nvPicPr>
          <p:cNvPr id="78" name="Images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996696" y="2249424"/>
            <a:ext cx="365758" cy="36575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79" name="Rectangles"/>
          <p:cNvSpPr>
            <a:spLocks/>
          </p:cNvSpPr>
          <p:nvPr/>
        </p:nvSpPr>
        <p:spPr>
          <a:xfrm rot="0">
            <a:off x="1737360" y="1929384"/>
            <a:ext cx="3931920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Availability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0" name="Rectangles"/>
          <p:cNvSpPr>
            <a:spLocks/>
          </p:cNvSpPr>
          <p:nvPr/>
        </p:nvSpPr>
        <p:spPr>
          <a:xfrm rot="0">
            <a:off x="1737360" y="2331720"/>
            <a:ext cx="3931920" cy="7315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Reports go dark whenever Tableau is down — no way to download.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1" name="Rounded rectangle"/>
          <p:cNvSpPr>
            <a:spLocks/>
          </p:cNvSpPr>
          <p:nvPr/>
        </p:nvSpPr>
        <p:spPr>
          <a:xfrm rot="0">
            <a:off x="6099048" y="1691639"/>
            <a:ext cx="5349239" cy="1481328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82" name="Oval"/>
          <p:cNvSpPr>
            <a:spLocks/>
          </p:cNvSpPr>
          <p:nvPr/>
        </p:nvSpPr>
        <p:spPr>
          <a:xfrm rot="0">
            <a:off x="6373367" y="2075688"/>
            <a:ext cx="713232" cy="713232"/>
          </a:xfrm>
          <a:prstGeom prst="ellipse"/>
          <a:solidFill>
            <a:srgbClr val="9A3B3B"/>
          </a:solidFill>
          <a:ln w="12700" cmpd="sng" cap="flat">
            <a:noFill/>
            <a:prstDash val="solid"/>
            <a:miter/>
          </a:ln>
        </p:spPr>
      </p:sp>
      <p:pic>
        <p:nvPicPr>
          <p:cNvPr id="83" name="Images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6547104" y="2249424"/>
            <a:ext cx="365758" cy="36575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84" name="Rectangles"/>
          <p:cNvSpPr>
            <a:spLocks/>
          </p:cNvSpPr>
          <p:nvPr/>
        </p:nvSpPr>
        <p:spPr>
          <a:xfrm rot="0">
            <a:off x="7287768" y="1929384"/>
            <a:ext cx="3931920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Cost &amp; lock-in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5" name="Rectangles"/>
          <p:cNvSpPr>
            <a:spLocks/>
          </p:cNvSpPr>
          <p:nvPr/>
        </p:nvSpPr>
        <p:spPr>
          <a:xfrm rot="0">
            <a:off x="7287768" y="2331720"/>
            <a:ext cx="3931920" cy="7315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Per-developer and per-user Tableau licensing; locked to one vendor.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6" name="Rounded rectangle"/>
          <p:cNvSpPr>
            <a:spLocks/>
          </p:cNvSpPr>
          <p:nvPr/>
        </p:nvSpPr>
        <p:spPr>
          <a:xfrm rot="0">
            <a:off x="548640" y="3374136"/>
            <a:ext cx="5349239" cy="1481328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87" name="Oval"/>
          <p:cNvSpPr>
            <a:spLocks/>
          </p:cNvSpPr>
          <p:nvPr/>
        </p:nvSpPr>
        <p:spPr>
          <a:xfrm rot="0">
            <a:off x="822960" y="3758184"/>
            <a:ext cx="713232" cy="713231"/>
          </a:xfrm>
          <a:prstGeom prst="ellipse"/>
          <a:solidFill>
            <a:srgbClr val="9A3B3B"/>
          </a:solidFill>
          <a:ln w="12700" cmpd="sng" cap="flat">
            <a:noFill/>
            <a:prstDash val="solid"/>
            <a:miter/>
          </a:ln>
        </p:spPr>
      </p:sp>
      <p:pic>
        <p:nvPicPr>
          <p:cNvPr id="88" name="Images" descr="preencod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996696" y="3931920"/>
            <a:ext cx="365758" cy="36575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89" name="Rectangles"/>
          <p:cNvSpPr>
            <a:spLocks/>
          </p:cNvSpPr>
          <p:nvPr/>
        </p:nvSpPr>
        <p:spPr>
          <a:xfrm rot="0">
            <a:off x="1737360" y="3611880"/>
            <a:ext cx="393192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Security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0" name="Rectangles"/>
          <p:cNvSpPr>
            <a:spLocks/>
          </p:cNvSpPr>
          <p:nvPr/>
        </p:nvSpPr>
        <p:spPr>
          <a:xfrm rot="0">
            <a:off x="1737360" y="4014216"/>
            <a:ext cx="393192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Sensitive financial data is exposed to a third-party environment.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1" name="Rounded rectangle"/>
          <p:cNvSpPr>
            <a:spLocks/>
          </p:cNvSpPr>
          <p:nvPr/>
        </p:nvSpPr>
        <p:spPr>
          <a:xfrm rot="0">
            <a:off x="6099048" y="3374136"/>
            <a:ext cx="5349239" cy="1481328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92" name="Oval"/>
          <p:cNvSpPr>
            <a:spLocks/>
          </p:cNvSpPr>
          <p:nvPr/>
        </p:nvSpPr>
        <p:spPr>
          <a:xfrm rot="0">
            <a:off x="6373367" y="3758184"/>
            <a:ext cx="713232" cy="713231"/>
          </a:xfrm>
          <a:prstGeom prst="ellipse"/>
          <a:solidFill>
            <a:srgbClr val="9A3B3B"/>
          </a:solidFill>
          <a:ln w="12700" cmpd="sng" cap="flat">
            <a:noFill/>
            <a:prstDash val="solid"/>
            <a:miter/>
          </a:ln>
        </p:spPr>
      </p:sp>
      <p:pic>
        <p:nvPicPr>
          <p:cNvPr id="93" name="Images" descr="preencoded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6547104" y="3931920"/>
            <a:ext cx="365758" cy="36575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94" name="Rectangles"/>
          <p:cNvSpPr>
            <a:spLocks/>
          </p:cNvSpPr>
          <p:nvPr/>
        </p:nvSpPr>
        <p:spPr>
          <a:xfrm rot="0">
            <a:off x="7287768" y="3611880"/>
            <a:ext cx="393192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Maintainability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5" name="Rectangles"/>
          <p:cNvSpPr>
            <a:spLocks/>
          </p:cNvSpPr>
          <p:nvPr/>
        </p:nvSpPr>
        <p:spPr>
          <a:xfrm rot="0">
            <a:off x="7287768" y="4014216"/>
            <a:ext cx="393192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Duplicated, coupled logic across two systems; no automated regression testing.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470039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ounded rectangle"/>
          <p:cNvSpPr>
            <a:spLocks/>
          </p:cNvSpPr>
          <p:nvPr/>
        </p:nvSpPr>
        <p:spPr>
          <a:xfrm rot="0">
            <a:off x="8851392" y="292608"/>
            <a:ext cx="2834639" cy="329182"/>
          </a:xfrm>
          <a:prstGeom prst="roundRect">
            <a:avLst>
              <a:gd name="adj" fmla="val 50000"/>
            </a:avLst>
          </a:prstGeom>
          <a:solidFill>
            <a:srgbClr val="0F9D8C"/>
          </a:solidFill>
          <a:ln w="12700" cmpd="sng" cap="flat">
            <a:noFill/>
            <a:prstDash val="solid"/>
            <a:miter/>
          </a:ln>
        </p:spPr>
      </p:sp>
      <p:sp>
        <p:nvSpPr>
          <p:cNvPr id="101" name="Rectangles"/>
          <p:cNvSpPr>
            <a:spLocks/>
          </p:cNvSpPr>
          <p:nvPr/>
        </p:nvSpPr>
        <p:spPr>
          <a:xfrm rot="0">
            <a:off x="8851392" y="292608"/>
            <a:ext cx="2834639" cy="32918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0" cap="none" spc="10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FOR APPROVAL  ·  Business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2" name="Rectangles"/>
          <p:cNvSpPr>
            <a:spLocks/>
          </p:cNvSpPr>
          <p:nvPr/>
        </p:nvSpPr>
        <p:spPr>
          <a:xfrm rot="0">
            <a:off x="548640" y="384048"/>
            <a:ext cx="7772400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200" baseline="0">
                <a:solidFill>
                  <a:srgbClr val="1C729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PART A · THE WHY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3" name="Rectangles"/>
          <p:cNvSpPr>
            <a:spLocks/>
          </p:cNvSpPr>
          <p:nvPr/>
        </p:nvSpPr>
        <p:spPr>
          <a:xfrm rot="0">
            <a:off x="548640" y="676656"/>
            <a:ext cx="10789920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Why now: strategic drivers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4" name="Rounded rectangle"/>
          <p:cNvSpPr>
            <a:spLocks/>
          </p:cNvSpPr>
          <p:nvPr/>
        </p:nvSpPr>
        <p:spPr>
          <a:xfrm rot="0">
            <a:off x="548640" y="1783080"/>
            <a:ext cx="2670048" cy="3017519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105" name="Oval"/>
          <p:cNvSpPr>
            <a:spLocks/>
          </p:cNvSpPr>
          <p:nvPr/>
        </p:nvSpPr>
        <p:spPr>
          <a:xfrm rot="0">
            <a:off x="1449323" y="2167128"/>
            <a:ext cx="868680" cy="868680"/>
          </a:xfrm>
          <a:prstGeom prst="ellipse"/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pic>
        <p:nvPicPr>
          <p:cNvPr id="106" name="Images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664208" y="2377440"/>
            <a:ext cx="438912" cy="438912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07" name="Rectangles"/>
          <p:cNvSpPr>
            <a:spLocks/>
          </p:cNvSpPr>
          <p:nvPr/>
        </p:nvSpPr>
        <p:spPr>
          <a:xfrm rot="0">
            <a:off x="731520" y="3200400"/>
            <a:ext cx="2304288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5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Cost reduction</a:t>
            </a:r>
            <a:endParaRPr lang="zh-CN" altLang="en-US" sz="1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8" name="Rectangles"/>
          <p:cNvSpPr>
            <a:spLocks/>
          </p:cNvSpPr>
          <p:nvPr/>
        </p:nvSpPr>
        <p:spPr>
          <a:xfrm rot="0">
            <a:off x="777240" y="3657600"/>
            <a:ext cx="2212848" cy="10058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Eliminate recurring Tableau licensing across developers and users.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9" name="Rounded rectangle"/>
          <p:cNvSpPr>
            <a:spLocks/>
          </p:cNvSpPr>
          <p:nvPr/>
        </p:nvSpPr>
        <p:spPr>
          <a:xfrm rot="0">
            <a:off x="3383279" y="1783080"/>
            <a:ext cx="2670048" cy="3017519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110" name="Oval"/>
          <p:cNvSpPr>
            <a:spLocks/>
          </p:cNvSpPr>
          <p:nvPr/>
        </p:nvSpPr>
        <p:spPr>
          <a:xfrm rot="0">
            <a:off x="4283964" y="2167128"/>
            <a:ext cx="868680" cy="868680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pic>
        <p:nvPicPr>
          <p:cNvPr id="111" name="Images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4498848" y="2377440"/>
            <a:ext cx="438911" cy="438912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12" name="Rectangles"/>
          <p:cNvSpPr>
            <a:spLocks/>
          </p:cNvSpPr>
          <p:nvPr/>
        </p:nvSpPr>
        <p:spPr>
          <a:xfrm rot="0">
            <a:off x="3566160" y="3200400"/>
            <a:ext cx="2304287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5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Data sovereignty</a:t>
            </a:r>
            <a:endParaRPr lang="zh-CN" altLang="en-US" sz="1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3" name="Rectangles"/>
          <p:cNvSpPr>
            <a:spLocks/>
          </p:cNvSpPr>
          <p:nvPr/>
        </p:nvSpPr>
        <p:spPr>
          <a:xfrm rot="0">
            <a:off x="3611880" y="3657600"/>
            <a:ext cx="2212846" cy="10058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Keep sensitive financial data within DBS's controlled environment.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4" name="Rounded rectangle"/>
          <p:cNvSpPr>
            <a:spLocks/>
          </p:cNvSpPr>
          <p:nvPr/>
        </p:nvSpPr>
        <p:spPr>
          <a:xfrm rot="0">
            <a:off x="6217920" y="1783080"/>
            <a:ext cx="2670048" cy="3017519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115" name="Oval"/>
          <p:cNvSpPr>
            <a:spLocks/>
          </p:cNvSpPr>
          <p:nvPr/>
        </p:nvSpPr>
        <p:spPr>
          <a:xfrm rot="0">
            <a:off x="7118604" y="2167128"/>
            <a:ext cx="868679" cy="868680"/>
          </a:xfrm>
          <a:prstGeom prst="ellipse"/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pic>
        <p:nvPicPr>
          <p:cNvPr id="116" name="Images" descr="preencod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7333488" y="2377440"/>
            <a:ext cx="438910" cy="438912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17" name="Rectangles"/>
          <p:cNvSpPr>
            <a:spLocks/>
          </p:cNvSpPr>
          <p:nvPr/>
        </p:nvSpPr>
        <p:spPr>
          <a:xfrm rot="0">
            <a:off x="6400800" y="3200400"/>
            <a:ext cx="2304288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5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Agility</a:t>
            </a:r>
            <a:endParaRPr lang="zh-CN" altLang="en-US" sz="1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8" name="Rectangles"/>
          <p:cNvSpPr>
            <a:spLocks/>
          </p:cNvSpPr>
          <p:nvPr/>
        </p:nvSpPr>
        <p:spPr>
          <a:xfrm rot="0">
            <a:off x="6446520" y="3657600"/>
            <a:ext cx="2212848" cy="10058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Adapt to evolving regulations and user needs without waiting on a vendor's release cycle.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9" name="Rounded rectangle"/>
          <p:cNvSpPr>
            <a:spLocks/>
          </p:cNvSpPr>
          <p:nvPr/>
        </p:nvSpPr>
        <p:spPr>
          <a:xfrm rot="0">
            <a:off x="9052560" y="1783080"/>
            <a:ext cx="2670048" cy="3017519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120" name="Oval"/>
          <p:cNvSpPr>
            <a:spLocks/>
          </p:cNvSpPr>
          <p:nvPr/>
        </p:nvSpPr>
        <p:spPr>
          <a:xfrm rot="0">
            <a:off x="9953245" y="2167128"/>
            <a:ext cx="868680" cy="868680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pic>
        <p:nvPicPr>
          <p:cNvPr id="121" name="Images" descr="preencoded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10168128" y="2377440"/>
            <a:ext cx="438910" cy="438912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22" name="Rectangles"/>
          <p:cNvSpPr>
            <a:spLocks/>
          </p:cNvSpPr>
          <p:nvPr/>
        </p:nvSpPr>
        <p:spPr>
          <a:xfrm rot="0">
            <a:off x="9235440" y="3200400"/>
            <a:ext cx="2304286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5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Quality</a:t>
            </a:r>
            <a:endParaRPr lang="zh-CN" altLang="en-US" sz="1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3" name="Rectangles"/>
          <p:cNvSpPr>
            <a:spLocks/>
          </p:cNvSpPr>
          <p:nvPr/>
        </p:nvSpPr>
        <p:spPr>
          <a:xfrm rot="0">
            <a:off x="9281160" y="3657600"/>
            <a:ext cx="2212847" cy="10058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Decoupled logic enables automated testing — fewer bugs, more reliable reports.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4" name="Rectangles"/>
          <p:cNvSpPr>
            <a:spLocks/>
          </p:cNvSpPr>
          <p:nvPr/>
        </p:nvSpPr>
        <p:spPr>
          <a:xfrm rot="0">
            <a:off x="548640" y="5074920"/>
            <a:ext cx="11064240" cy="3657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1" u="none" strike="noStrike" kern="1200" cap="none" spc="0" baseline="0">
                <a:solidFill>
                  <a:srgbClr val="1C729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The window is now: no new licenses to renew, and the platform pieces we need already exist in-house.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603951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ounded rectangle"/>
          <p:cNvSpPr>
            <a:spLocks/>
          </p:cNvSpPr>
          <p:nvPr/>
        </p:nvSpPr>
        <p:spPr>
          <a:xfrm rot="0">
            <a:off x="8851392" y="292608"/>
            <a:ext cx="2834639" cy="329182"/>
          </a:xfrm>
          <a:prstGeom prst="roundRect">
            <a:avLst>
              <a:gd name="adj" fmla="val 50000"/>
            </a:avLst>
          </a:prstGeom>
          <a:solidFill>
            <a:srgbClr val="0F9D8C"/>
          </a:solidFill>
          <a:ln w="12700" cmpd="sng" cap="flat">
            <a:noFill/>
            <a:prstDash val="solid"/>
            <a:miter/>
          </a:ln>
        </p:spPr>
      </p:sp>
      <p:sp>
        <p:nvSpPr>
          <p:cNvPr id="130" name="Rectangles"/>
          <p:cNvSpPr>
            <a:spLocks/>
          </p:cNvSpPr>
          <p:nvPr/>
        </p:nvSpPr>
        <p:spPr>
          <a:xfrm rot="0">
            <a:off x="8851392" y="292608"/>
            <a:ext cx="2834639" cy="32918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0" cap="none" spc="10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FOR APPROVAL  ·  Business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1" name="Rectangles"/>
          <p:cNvSpPr>
            <a:spLocks/>
          </p:cNvSpPr>
          <p:nvPr/>
        </p:nvSpPr>
        <p:spPr>
          <a:xfrm rot="0">
            <a:off x="548640" y="384048"/>
            <a:ext cx="7772400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200" baseline="0">
                <a:solidFill>
                  <a:srgbClr val="1C729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PART A · THE PAYOFF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2" name="Rectangles"/>
          <p:cNvSpPr>
            <a:spLocks/>
          </p:cNvSpPr>
          <p:nvPr/>
        </p:nvSpPr>
        <p:spPr>
          <a:xfrm rot="0">
            <a:off x="548640" y="676656"/>
            <a:ext cx="10789920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Business impact at a glance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3" name="Rounded rectangle"/>
          <p:cNvSpPr>
            <a:spLocks/>
          </p:cNvSpPr>
          <p:nvPr/>
        </p:nvSpPr>
        <p:spPr>
          <a:xfrm rot="0">
            <a:off x="548640" y="1691639"/>
            <a:ext cx="2670048" cy="1481328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134" name="Oval"/>
          <p:cNvSpPr>
            <a:spLocks/>
          </p:cNvSpPr>
          <p:nvPr/>
        </p:nvSpPr>
        <p:spPr>
          <a:xfrm rot="0">
            <a:off x="786384" y="2057400"/>
            <a:ext cx="640080" cy="640080"/>
          </a:xfrm>
          <a:prstGeom prst="ellipse"/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pic>
        <p:nvPicPr>
          <p:cNvPr id="135" name="Images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941832" y="2212848"/>
            <a:ext cx="329182" cy="32918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36" name="Rectangles"/>
          <p:cNvSpPr>
            <a:spLocks/>
          </p:cNvSpPr>
          <p:nvPr/>
        </p:nvSpPr>
        <p:spPr>
          <a:xfrm rot="0">
            <a:off x="1572768" y="1984248"/>
            <a:ext cx="1527046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Cost Savings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7" name="Rectangles"/>
          <p:cNvSpPr>
            <a:spLocks/>
          </p:cNvSpPr>
          <p:nvPr/>
        </p:nvSpPr>
        <p:spPr>
          <a:xfrm rot="0">
            <a:off x="1572768" y="2441447"/>
            <a:ext cx="1527046" cy="5486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 Tableau licensing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8" name="Rounded rectangle"/>
          <p:cNvSpPr>
            <a:spLocks/>
          </p:cNvSpPr>
          <p:nvPr/>
        </p:nvSpPr>
        <p:spPr>
          <a:xfrm rot="0">
            <a:off x="3383279" y="1691639"/>
            <a:ext cx="2670048" cy="1481328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139" name="Oval"/>
          <p:cNvSpPr>
            <a:spLocks/>
          </p:cNvSpPr>
          <p:nvPr/>
        </p:nvSpPr>
        <p:spPr>
          <a:xfrm rot="0">
            <a:off x="3621024" y="2057400"/>
            <a:ext cx="640079" cy="640080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pic>
        <p:nvPicPr>
          <p:cNvPr id="140" name="Images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3776471" y="2212848"/>
            <a:ext cx="329183" cy="32918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41" name="Rectangles"/>
          <p:cNvSpPr>
            <a:spLocks/>
          </p:cNvSpPr>
          <p:nvPr/>
        </p:nvSpPr>
        <p:spPr>
          <a:xfrm rot="0">
            <a:off x="4407408" y="1984248"/>
            <a:ext cx="1527048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Risk Mitigation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2" name="Rectangles"/>
          <p:cNvSpPr>
            <a:spLocks/>
          </p:cNvSpPr>
          <p:nvPr/>
        </p:nvSpPr>
        <p:spPr>
          <a:xfrm rot="0">
            <a:off x="4407408" y="2441447"/>
            <a:ext cx="1527048" cy="5486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 vendor lock-in or surprises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3" name="Rounded rectangle"/>
          <p:cNvSpPr>
            <a:spLocks/>
          </p:cNvSpPr>
          <p:nvPr/>
        </p:nvSpPr>
        <p:spPr>
          <a:xfrm rot="0">
            <a:off x="6217920" y="1691639"/>
            <a:ext cx="2670048" cy="1481328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144" name="Oval"/>
          <p:cNvSpPr>
            <a:spLocks/>
          </p:cNvSpPr>
          <p:nvPr/>
        </p:nvSpPr>
        <p:spPr>
          <a:xfrm rot="0">
            <a:off x="6455664" y="2057400"/>
            <a:ext cx="640080" cy="640080"/>
          </a:xfrm>
          <a:prstGeom prst="ellipse"/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pic>
        <p:nvPicPr>
          <p:cNvPr id="145" name="Images" descr="preencod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6611112" y="2212848"/>
            <a:ext cx="329184" cy="32918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46" name="Rectangles"/>
          <p:cNvSpPr>
            <a:spLocks/>
          </p:cNvSpPr>
          <p:nvPr/>
        </p:nvSpPr>
        <p:spPr>
          <a:xfrm rot="0">
            <a:off x="7242048" y="1984248"/>
            <a:ext cx="1527048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Enhanced Security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7" name="Rectangles"/>
          <p:cNvSpPr>
            <a:spLocks/>
          </p:cNvSpPr>
          <p:nvPr/>
        </p:nvSpPr>
        <p:spPr>
          <a:xfrm rot="0">
            <a:off x="7242048" y="2441447"/>
            <a:ext cx="1527048" cy="5486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Data stays inside DBS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8" name="Rounded rectangle"/>
          <p:cNvSpPr>
            <a:spLocks/>
          </p:cNvSpPr>
          <p:nvPr/>
        </p:nvSpPr>
        <p:spPr>
          <a:xfrm rot="0">
            <a:off x="9052560" y="1691639"/>
            <a:ext cx="2670048" cy="1481328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149" name="Oval"/>
          <p:cNvSpPr>
            <a:spLocks/>
          </p:cNvSpPr>
          <p:nvPr/>
        </p:nvSpPr>
        <p:spPr>
          <a:xfrm rot="0">
            <a:off x="9290304" y="2057400"/>
            <a:ext cx="640080" cy="640080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pic>
        <p:nvPicPr>
          <p:cNvPr id="150" name="Images" descr="preencoded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9445752" y="2212848"/>
            <a:ext cx="329182" cy="32918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51" name="Rectangles"/>
          <p:cNvSpPr>
            <a:spLocks/>
          </p:cNvSpPr>
          <p:nvPr/>
        </p:nvSpPr>
        <p:spPr>
          <a:xfrm rot="0">
            <a:off x="10076688" y="1984248"/>
            <a:ext cx="1527047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Faster Processing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2" name="Rectangles"/>
          <p:cNvSpPr>
            <a:spLocks/>
          </p:cNvSpPr>
          <p:nvPr/>
        </p:nvSpPr>
        <p:spPr>
          <a:xfrm rot="0">
            <a:off x="10076688" y="2441447"/>
            <a:ext cx="1527047" cy="5486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DuckDB engine, timelier insight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3" name="Rounded rectangle"/>
          <p:cNvSpPr>
            <a:spLocks/>
          </p:cNvSpPr>
          <p:nvPr/>
        </p:nvSpPr>
        <p:spPr>
          <a:xfrm rot="0">
            <a:off x="548640" y="3355848"/>
            <a:ext cx="2670048" cy="1481328"/>
          </a:xfrm>
          <a:prstGeom prst="roundRect">
            <a:avLst>
              <a:gd name="adj" fmla="val 5555"/>
            </a:avLst>
          </a:prstGeom>
          <a:solidFill>
            <a:srgbClr val="D7E6EE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154" name="Oval"/>
          <p:cNvSpPr>
            <a:spLocks/>
          </p:cNvSpPr>
          <p:nvPr/>
        </p:nvSpPr>
        <p:spPr>
          <a:xfrm rot="0">
            <a:off x="786384" y="3721608"/>
            <a:ext cx="640080" cy="640079"/>
          </a:xfrm>
          <a:prstGeom prst="ellipse"/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pic>
        <p:nvPicPr>
          <p:cNvPr id="155" name="Images" descr="preencoded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941832" y="3877055"/>
            <a:ext cx="329182" cy="32918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56" name="Rectangles"/>
          <p:cNvSpPr>
            <a:spLocks/>
          </p:cNvSpPr>
          <p:nvPr/>
        </p:nvSpPr>
        <p:spPr>
          <a:xfrm rot="0">
            <a:off x="1572768" y="3648456"/>
            <a:ext cx="1527046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Higher Quality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7" name="Rectangles"/>
          <p:cNvSpPr>
            <a:spLocks/>
          </p:cNvSpPr>
          <p:nvPr/>
        </p:nvSpPr>
        <p:spPr>
          <a:xfrm rot="0">
            <a:off x="1572768" y="4105656"/>
            <a:ext cx="1527046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Automated testing, fewer bugs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8" name="Rounded rectangle"/>
          <p:cNvSpPr>
            <a:spLocks/>
          </p:cNvSpPr>
          <p:nvPr/>
        </p:nvSpPr>
        <p:spPr>
          <a:xfrm rot="0">
            <a:off x="3383279" y="3355848"/>
            <a:ext cx="2670048" cy="1481328"/>
          </a:xfrm>
          <a:prstGeom prst="roundRect">
            <a:avLst>
              <a:gd name="adj" fmla="val 5555"/>
            </a:avLst>
          </a:prstGeom>
          <a:solidFill>
            <a:srgbClr val="D7E6EE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159" name="Oval"/>
          <p:cNvSpPr>
            <a:spLocks/>
          </p:cNvSpPr>
          <p:nvPr/>
        </p:nvSpPr>
        <p:spPr>
          <a:xfrm rot="0">
            <a:off x="3621024" y="3721608"/>
            <a:ext cx="640079" cy="640079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pic>
        <p:nvPicPr>
          <p:cNvPr id="160" name="Images" descr="preencoded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3776471" y="3877055"/>
            <a:ext cx="329183" cy="32918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61" name="Rectangles"/>
          <p:cNvSpPr>
            <a:spLocks/>
          </p:cNvSpPr>
          <p:nvPr/>
        </p:nvSpPr>
        <p:spPr>
          <a:xfrm rot="0">
            <a:off x="4407408" y="3648456"/>
            <a:ext cx="1527048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Streamlined Upkeep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2" name="Rectangles"/>
          <p:cNvSpPr>
            <a:spLocks/>
          </p:cNvSpPr>
          <p:nvPr/>
        </p:nvSpPr>
        <p:spPr>
          <a:xfrm rot="0">
            <a:off x="4407408" y="4105656"/>
            <a:ext cx="1527048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One system, less effort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3" name="Rounded rectangle"/>
          <p:cNvSpPr>
            <a:spLocks/>
          </p:cNvSpPr>
          <p:nvPr/>
        </p:nvSpPr>
        <p:spPr>
          <a:xfrm rot="0">
            <a:off x="6217920" y="3355848"/>
            <a:ext cx="2670048" cy="1481328"/>
          </a:xfrm>
          <a:prstGeom prst="roundRect">
            <a:avLst>
              <a:gd name="adj" fmla="val 5555"/>
            </a:avLst>
          </a:prstGeom>
          <a:solidFill>
            <a:srgbClr val="D7E6EE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164" name="Oval"/>
          <p:cNvSpPr>
            <a:spLocks/>
          </p:cNvSpPr>
          <p:nvPr/>
        </p:nvSpPr>
        <p:spPr>
          <a:xfrm rot="0">
            <a:off x="6455664" y="3721608"/>
            <a:ext cx="640080" cy="640079"/>
          </a:xfrm>
          <a:prstGeom prst="ellipse"/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pic>
        <p:nvPicPr>
          <p:cNvPr id="165" name="Images" descr="preencoded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0">
            <a:off x="6611112" y="3877055"/>
            <a:ext cx="329184" cy="32918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66" name="Rectangles"/>
          <p:cNvSpPr>
            <a:spLocks/>
          </p:cNvSpPr>
          <p:nvPr/>
        </p:nvSpPr>
        <p:spPr>
          <a:xfrm rot="0">
            <a:off x="7242048" y="3648456"/>
            <a:ext cx="1527048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Platform Reuse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7" name="Rectangles"/>
          <p:cNvSpPr>
            <a:spLocks/>
          </p:cNvSpPr>
          <p:nvPr/>
        </p:nvSpPr>
        <p:spPr>
          <a:xfrm rot="0">
            <a:off x="7242048" y="4105656"/>
            <a:ext cx="1527048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Builds on existing DBS infra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8" name="Rounded rectangle"/>
          <p:cNvSpPr>
            <a:spLocks/>
          </p:cNvSpPr>
          <p:nvPr/>
        </p:nvSpPr>
        <p:spPr>
          <a:xfrm rot="0">
            <a:off x="9052560" y="3355848"/>
            <a:ext cx="2670048" cy="1481328"/>
          </a:xfrm>
          <a:prstGeom prst="roundRect">
            <a:avLst>
              <a:gd name="adj" fmla="val 5555"/>
            </a:avLst>
          </a:prstGeom>
          <a:solidFill>
            <a:srgbClr val="D7E6EE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169" name="Oval"/>
          <p:cNvSpPr>
            <a:spLocks/>
          </p:cNvSpPr>
          <p:nvPr/>
        </p:nvSpPr>
        <p:spPr>
          <a:xfrm rot="0">
            <a:off x="9290304" y="3721608"/>
            <a:ext cx="640080" cy="640079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pic>
        <p:nvPicPr>
          <p:cNvPr id="170" name="Images" descr="preencoded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0">
            <a:off x="9445752" y="3877055"/>
            <a:ext cx="329182" cy="32918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71" name="Rectangles"/>
          <p:cNvSpPr>
            <a:spLocks/>
          </p:cNvSpPr>
          <p:nvPr/>
        </p:nvSpPr>
        <p:spPr>
          <a:xfrm rot="0">
            <a:off x="10076688" y="3648456"/>
            <a:ext cx="1527047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Unified Experience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2" name="Rectangles"/>
          <p:cNvSpPr>
            <a:spLocks/>
          </p:cNvSpPr>
          <p:nvPr/>
        </p:nvSpPr>
        <p:spPr>
          <a:xfrm rot="0">
            <a:off x="10076688" y="4105656"/>
            <a:ext cx="1527047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Single web app, single login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317183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ounded rectangle"/>
          <p:cNvSpPr>
            <a:spLocks/>
          </p:cNvSpPr>
          <p:nvPr/>
        </p:nvSpPr>
        <p:spPr>
          <a:xfrm rot="0">
            <a:off x="8851392" y="292608"/>
            <a:ext cx="2834639" cy="329182"/>
          </a:xfrm>
          <a:prstGeom prst="roundRect">
            <a:avLst>
              <a:gd name="adj" fmla="val 50000"/>
            </a:avLst>
          </a:prstGeom>
          <a:solidFill>
            <a:srgbClr val="0F9D8C"/>
          </a:solidFill>
          <a:ln w="12700" cmpd="sng" cap="flat">
            <a:noFill/>
            <a:prstDash val="solid"/>
            <a:miter/>
          </a:ln>
        </p:spPr>
      </p:sp>
      <p:sp>
        <p:nvSpPr>
          <p:cNvPr id="178" name="Rectangles"/>
          <p:cNvSpPr>
            <a:spLocks/>
          </p:cNvSpPr>
          <p:nvPr/>
        </p:nvSpPr>
        <p:spPr>
          <a:xfrm rot="0">
            <a:off x="8851392" y="292608"/>
            <a:ext cx="2834639" cy="32918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0" cap="none" spc="10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FOR APPROVAL  ·  Business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9" name="Rectangles"/>
          <p:cNvSpPr>
            <a:spLocks/>
          </p:cNvSpPr>
          <p:nvPr/>
        </p:nvSpPr>
        <p:spPr>
          <a:xfrm rot="0">
            <a:off x="640080" y="868680"/>
            <a:ext cx="731520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0" cap="none" spc="200" baseline="0">
                <a:solidFill>
                  <a:srgbClr val="8FB8C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PART A · THE DECISION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0" name="Rectangles"/>
          <p:cNvSpPr>
            <a:spLocks/>
          </p:cNvSpPr>
          <p:nvPr/>
        </p:nvSpPr>
        <p:spPr>
          <a:xfrm rot="0">
            <a:off x="640080" y="1207008"/>
            <a:ext cx="105156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What we're asking you to approve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1" name="Rounded rectangle"/>
          <p:cNvSpPr>
            <a:spLocks/>
          </p:cNvSpPr>
          <p:nvPr/>
        </p:nvSpPr>
        <p:spPr>
          <a:xfrm rot="0">
            <a:off x="640080" y="2286000"/>
            <a:ext cx="10881359" cy="1371600"/>
          </a:xfrm>
          <a:prstGeom prst="roundRect">
            <a:avLst>
              <a:gd name="adj" fmla="val 8000"/>
            </a:avLst>
          </a:prstGeom>
          <a:solidFill>
            <a:srgbClr val="2C386E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pic>
        <p:nvPicPr>
          <p:cNvPr id="182" name="Images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960120" y="2670048"/>
            <a:ext cx="603504" cy="60350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83" name="Rectangles"/>
          <p:cNvSpPr>
            <a:spLocks/>
          </p:cNvSpPr>
          <p:nvPr/>
        </p:nvSpPr>
        <p:spPr>
          <a:xfrm rot="0">
            <a:off x="1783080" y="2286000"/>
            <a:ext cx="9509760" cy="1371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Proceed with the migration from Tableau to the in-house ILMA platform, and approve the phased cutover plan.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4" name="Rounded rectangle"/>
          <p:cNvSpPr>
            <a:spLocks/>
          </p:cNvSpPr>
          <p:nvPr/>
        </p:nvSpPr>
        <p:spPr>
          <a:xfrm rot="0">
            <a:off x="640080" y="3977640"/>
            <a:ext cx="3502152" cy="1783079"/>
          </a:xfrm>
          <a:prstGeom prst="roundRect">
            <a:avLst>
              <a:gd name="adj" fmla="val 5129"/>
            </a:avLst>
          </a:prstGeom>
          <a:solidFill>
            <a:srgbClr val="243066"/>
          </a:solidFill>
          <a:ln w="12700" cmpd="sng" cap="flat">
            <a:noFill/>
            <a:prstDash val="solid"/>
            <a:miter/>
          </a:ln>
        </p:spPr>
      </p:sp>
      <p:pic>
        <p:nvPicPr>
          <p:cNvPr id="185" name="Images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914400" y="4270248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86" name="Rectangles"/>
          <p:cNvSpPr>
            <a:spLocks/>
          </p:cNvSpPr>
          <p:nvPr/>
        </p:nvSpPr>
        <p:spPr>
          <a:xfrm rot="0">
            <a:off x="914400" y="4818888"/>
            <a:ext cx="2953512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No new spend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7" name="Rectangles"/>
          <p:cNvSpPr>
            <a:spLocks/>
          </p:cNvSpPr>
          <p:nvPr/>
        </p:nvSpPr>
        <p:spPr>
          <a:xfrm rot="0">
            <a:off x="914400" y="5166360"/>
            <a:ext cx="2953512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Reuses infrastructure DBS already runs.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8" name="Rounded rectangle"/>
          <p:cNvSpPr>
            <a:spLocks/>
          </p:cNvSpPr>
          <p:nvPr/>
        </p:nvSpPr>
        <p:spPr>
          <a:xfrm rot="0">
            <a:off x="4325112" y="3977640"/>
            <a:ext cx="3502151" cy="1783079"/>
          </a:xfrm>
          <a:prstGeom prst="roundRect">
            <a:avLst>
              <a:gd name="adj" fmla="val 5129"/>
            </a:avLst>
          </a:prstGeom>
          <a:solidFill>
            <a:srgbClr val="243066"/>
          </a:solidFill>
          <a:ln w="12700" cmpd="sng" cap="flat">
            <a:noFill/>
            <a:prstDash val="solid"/>
            <a:miter/>
          </a:ln>
        </p:spPr>
      </p:sp>
      <p:pic>
        <p:nvPicPr>
          <p:cNvPr id="189" name="Images" descr="preencod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4599432" y="4270248"/>
            <a:ext cx="457199" cy="4572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90" name="Rectangles"/>
          <p:cNvSpPr>
            <a:spLocks/>
          </p:cNvSpPr>
          <p:nvPr/>
        </p:nvSpPr>
        <p:spPr>
          <a:xfrm rot="0">
            <a:off x="4599432" y="4818888"/>
            <a:ext cx="2953511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Lower risk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1" name="Rectangles"/>
          <p:cNvSpPr>
            <a:spLocks/>
          </p:cNvSpPr>
          <p:nvPr/>
        </p:nvSpPr>
        <p:spPr>
          <a:xfrm rot="0">
            <a:off x="4599432" y="5166360"/>
            <a:ext cx="2953511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Data and roadmap fully under DBS control.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2" name="Rounded rectangle"/>
          <p:cNvSpPr>
            <a:spLocks/>
          </p:cNvSpPr>
          <p:nvPr/>
        </p:nvSpPr>
        <p:spPr>
          <a:xfrm rot="0">
            <a:off x="8010144" y="3977640"/>
            <a:ext cx="3502152" cy="1783079"/>
          </a:xfrm>
          <a:prstGeom prst="roundRect">
            <a:avLst>
              <a:gd name="adj" fmla="val 5129"/>
            </a:avLst>
          </a:prstGeom>
          <a:solidFill>
            <a:srgbClr val="243066"/>
          </a:solidFill>
          <a:ln w="12700" cmpd="sng" cap="flat">
            <a:noFill/>
            <a:prstDash val="solid"/>
            <a:miter/>
          </a:ln>
        </p:spPr>
      </p:sp>
      <p:pic>
        <p:nvPicPr>
          <p:cNvPr id="193" name="Images" descr="preencoded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8284464" y="4270248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94" name="Rectangles"/>
          <p:cNvSpPr>
            <a:spLocks/>
          </p:cNvSpPr>
          <p:nvPr/>
        </p:nvSpPr>
        <p:spPr>
          <a:xfrm rot="0">
            <a:off x="8284464" y="4818888"/>
            <a:ext cx="2953511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Better outcomes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5" name="Rectangles"/>
          <p:cNvSpPr>
            <a:spLocks/>
          </p:cNvSpPr>
          <p:nvPr/>
        </p:nvSpPr>
        <p:spPr>
          <a:xfrm rot="0">
            <a:off x="8284464" y="5166360"/>
            <a:ext cx="2953511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Faster reports, higher quality, unified UX.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6" name="Rectangles"/>
          <p:cNvSpPr>
            <a:spLocks/>
          </p:cNvSpPr>
          <p:nvPr/>
        </p:nvSpPr>
        <p:spPr>
          <a:xfrm rot="0">
            <a:off x="640080" y="5989320"/>
            <a:ext cx="10881359" cy="3657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1" u="none" strike="noStrike" kern="1200" cap="none" spc="0" baseline="0">
                <a:solidFill>
                  <a:srgbClr val="8FB8C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Business audience can stop here. The following slides cover technical design.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26441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ounded rectangle"/>
          <p:cNvSpPr>
            <a:spLocks/>
          </p:cNvSpPr>
          <p:nvPr/>
        </p:nvSpPr>
        <p:spPr>
          <a:xfrm rot="0">
            <a:off x="8851392" y="292608"/>
            <a:ext cx="2834639" cy="329182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 w="12700" cmpd="sng" cap="flat">
            <a:noFill/>
            <a:prstDash val="solid"/>
            <a:miter/>
          </a:ln>
        </p:spPr>
      </p:sp>
      <p:sp>
        <p:nvSpPr>
          <p:cNvPr id="202" name="Rectangles"/>
          <p:cNvSpPr>
            <a:spLocks/>
          </p:cNvSpPr>
          <p:nvPr/>
        </p:nvSpPr>
        <p:spPr>
          <a:xfrm rot="0">
            <a:off x="8851392" y="292608"/>
            <a:ext cx="2834639" cy="32918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0" cap="none" spc="10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TECHNICAL DETAIL  ·  Tech Review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3" name="Rectangles"/>
          <p:cNvSpPr>
            <a:spLocks/>
          </p:cNvSpPr>
          <p:nvPr/>
        </p:nvSpPr>
        <p:spPr>
          <a:xfrm rot="0">
            <a:off x="548640" y="384048"/>
            <a:ext cx="7772400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200" baseline="0">
                <a:solidFill>
                  <a:srgbClr val="1C729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PART B · THE HOW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4" name="Rectangles"/>
          <p:cNvSpPr>
            <a:spLocks/>
          </p:cNvSpPr>
          <p:nvPr/>
        </p:nvSpPr>
        <p:spPr>
          <a:xfrm rot="0">
            <a:off x="548640" y="676656"/>
            <a:ext cx="10789920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Target architecture on OpenShift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5" name="Rounded rectangle"/>
          <p:cNvSpPr>
            <a:spLocks/>
          </p:cNvSpPr>
          <p:nvPr/>
        </p:nvSpPr>
        <p:spPr>
          <a:xfrm rot="0">
            <a:off x="548640" y="1645920"/>
            <a:ext cx="11064240" cy="3611880"/>
          </a:xfrm>
          <a:prstGeom prst="roundRect">
            <a:avLst>
              <a:gd name="adj" fmla="val 2023"/>
            </a:avLst>
          </a:prstGeom>
          <a:solidFill>
            <a:srgbClr val="ECF3F6"/>
          </a:solidFill>
          <a:ln w="15875" cmpd="sng" cap="flat">
            <a:solidFill>
              <a:srgbClr val="1C7293"/>
            </a:solidFill>
            <a:prstDash val="solid"/>
            <a:round/>
          </a:ln>
        </p:spPr>
      </p:sp>
      <p:pic>
        <p:nvPicPr>
          <p:cNvPr id="206" name="Images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804672" y="1828800"/>
            <a:ext cx="411480" cy="411478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07" name="Rectangles"/>
          <p:cNvSpPr>
            <a:spLocks/>
          </p:cNvSpPr>
          <p:nvPr/>
        </p:nvSpPr>
        <p:spPr>
          <a:xfrm rot="0">
            <a:off x="1325880" y="1828800"/>
            <a:ext cx="6400800" cy="4114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1C729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OpenShift  ·  all services containerized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8" name="Rounded rectangle"/>
          <p:cNvSpPr>
            <a:spLocks/>
          </p:cNvSpPr>
          <p:nvPr/>
        </p:nvSpPr>
        <p:spPr>
          <a:xfrm rot="0">
            <a:off x="868680" y="2377440"/>
            <a:ext cx="10424161" cy="777240"/>
          </a:xfrm>
          <a:prstGeom prst="roundRect">
            <a:avLst>
              <a:gd name="adj" fmla="val 8236"/>
            </a:avLst>
          </a:prstGeom>
          <a:solidFill>
            <a:srgbClr val="065A82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pic>
        <p:nvPicPr>
          <p:cNvPr id="209" name="Images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1097280" y="2587752"/>
            <a:ext cx="365760" cy="36575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10" name="Rectangles"/>
          <p:cNvSpPr>
            <a:spLocks/>
          </p:cNvSpPr>
          <p:nvPr/>
        </p:nvSpPr>
        <p:spPr>
          <a:xfrm rot="0">
            <a:off x="1581911" y="2377440"/>
            <a:ext cx="9509761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Single React Web App (shared SPA)   </a:t>
            </a:r>
            <a:r>
              <a:rPr lang="en-US" altLang="zh-CN" sz="1200" b="0" i="0" u="none" strike="noStrike" kern="1200" cap="none" spc="0" baseline="0">
                <a:solidFill>
                  <a:srgbClr val="CFE3E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existing modules + new ILMA dashboard · Material UI · Apache ECharts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1" name="Rounded rectangle"/>
          <p:cNvSpPr>
            <a:spLocks/>
          </p:cNvSpPr>
          <p:nvPr/>
        </p:nvSpPr>
        <p:spPr>
          <a:xfrm rot="0">
            <a:off x="868680" y="3337560"/>
            <a:ext cx="5074920" cy="1417320"/>
          </a:xfrm>
          <a:prstGeom prst="roundRect">
            <a:avLst>
              <a:gd name="adj" fmla="val 4513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212" name="Oval"/>
          <p:cNvSpPr>
            <a:spLocks/>
          </p:cNvSpPr>
          <p:nvPr/>
        </p:nvSpPr>
        <p:spPr>
          <a:xfrm rot="0">
            <a:off x="1097280" y="3566160"/>
            <a:ext cx="566928" cy="566928"/>
          </a:xfrm>
          <a:prstGeom prst="ellipse"/>
          <a:solidFill>
            <a:srgbClr val="21295C"/>
          </a:solidFill>
          <a:ln w="12700" cmpd="sng" cap="flat">
            <a:noFill/>
            <a:prstDash val="solid"/>
            <a:miter/>
          </a:ln>
        </p:spPr>
      </p:sp>
      <p:pic>
        <p:nvPicPr>
          <p:cNvPr id="213" name="Images" descr="preencod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1225295" y="3694176"/>
            <a:ext cx="310895" cy="310896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14" name="Rectangles"/>
          <p:cNvSpPr>
            <a:spLocks/>
          </p:cNvSpPr>
          <p:nvPr/>
        </p:nvSpPr>
        <p:spPr>
          <a:xfrm rot="0">
            <a:off x="1828800" y="3538728"/>
            <a:ext cx="397764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Java Services</a:t>
            </a:r>
            <a:endParaRPr lang="zh-CN" altLang="en-US" sz="15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5" name="Rectangles"/>
          <p:cNvSpPr>
            <a:spLocks/>
          </p:cNvSpPr>
          <p:nvPr/>
        </p:nvSpPr>
        <p:spPr>
          <a:xfrm rot="0">
            <a:off x="1143000" y="4050792"/>
            <a:ext cx="457200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Web authentication (enhanced to cover both main reporting and the analysis dashboard) + other existing services.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6" name="Rounded rectangle"/>
          <p:cNvSpPr>
            <a:spLocks/>
          </p:cNvSpPr>
          <p:nvPr/>
        </p:nvSpPr>
        <p:spPr>
          <a:xfrm rot="0">
            <a:off x="6217920" y="3337560"/>
            <a:ext cx="5074920" cy="1417320"/>
          </a:xfrm>
          <a:prstGeom prst="roundRect">
            <a:avLst>
              <a:gd name="adj" fmla="val 4513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217" name="Oval"/>
          <p:cNvSpPr>
            <a:spLocks/>
          </p:cNvSpPr>
          <p:nvPr/>
        </p:nvSpPr>
        <p:spPr>
          <a:xfrm rot="0">
            <a:off x="6446520" y="3566160"/>
            <a:ext cx="566927" cy="566928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pic>
        <p:nvPicPr>
          <p:cNvPr id="218" name="Images" descr="preencoded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6574535" y="3694176"/>
            <a:ext cx="310896" cy="310896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19" name="Rectangles"/>
          <p:cNvSpPr>
            <a:spLocks/>
          </p:cNvSpPr>
          <p:nvPr/>
        </p:nvSpPr>
        <p:spPr>
          <a:xfrm rot="0">
            <a:off x="7178040" y="3538728"/>
            <a:ext cx="397764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Python Container</a:t>
            </a:r>
            <a:endParaRPr lang="zh-CN" altLang="en-US" sz="15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0" name="Rectangles"/>
          <p:cNvSpPr>
            <a:spLocks/>
          </p:cNvSpPr>
          <p:nvPr/>
        </p:nvSpPr>
        <p:spPr>
          <a:xfrm rot="0">
            <a:off x="6492240" y="4050792"/>
            <a:ext cx="4571999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Data-processing engine: FastAPI (API layer) + DuckDB (C++ SQL engine) + Pandas (transforms).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1" name="Rounded rectangle"/>
          <p:cNvSpPr>
            <a:spLocks/>
          </p:cNvSpPr>
          <p:nvPr/>
        </p:nvSpPr>
        <p:spPr>
          <a:xfrm rot="0">
            <a:off x="548640" y="5440678"/>
            <a:ext cx="11064240" cy="658367"/>
          </a:xfrm>
          <a:prstGeom prst="roundRect">
            <a:avLst>
              <a:gd name="adj" fmla="val 11111"/>
            </a:avLst>
          </a:prstGeom>
          <a:solidFill>
            <a:srgbClr val="D7E6EE"/>
          </a:solidFill>
          <a:ln w="12700" cmpd="sng" cap="flat">
            <a:noFill/>
            <a:prstDash val="solid"/>
            <a:miter/>
          </a:ln>
        </p:spPr>
      </p:sp>
      <p:pic>
        <p:nvPicPr>
          <p:cNvPr id="222" name="Images" descr="preencoded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822960" y="5596128"/>
            <a:ext cx="347472" cy="347471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23" name="Rectangles"/>
          <p:cNvSpPr>
            <a:spLocks/>
          </p:cNvSpPr>
          <p:nvPr/>
        </p:nvSpPr>
        <p:spPr>
          <a:xfrm rot="0">
            <a:off x="1280160" y="5440678"/>
            <a:ext cx="10058401" cy="6583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Data store:  </a:t>
            </a:r>
            <a:r>
              <a:rPr lang="en-US" altLang="zh-CN" sz="1300" b="0" i="0" u="none" strike="noStrike" kern="1200" cap="none" spc="0" baseline="0">
                <a:solidFill>
                  <a:srgbClr val="1B243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MariaDB</a:t>
            </a:r>
            <a:r>
              <a:rPr lang="en-US" altLang="zh-CN" sz="13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     ·     One standardized API endpoint serves all dashboard data queries.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4" name="Rectangles"/>
          <p:cNvSpPr>
            <a:spLocks/>
          </p:cNvSpPr>
          <p:nvPr/>
        </p:nvSpPr>
        <p:spPr>
          <a:xfrm rot="0">
            <a:off x="548640" y="6199631"/>
            <a:ext cx="1106424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1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Note: the original Confluence comparison omitted Java &amp; OpenShift — shown here for the complete picture.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942120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ounded rectangle"/>
          <p:cNvSpPr>
            <a:spLocks/>
          </p:cNvSpPr>
          <p:nvPr/>
        </p:nvSpPr>
        <p:spPr>
          <a:xfrm rot="0">
            <a:off x="8851392" y="292608"/>
            <a:ext cx="2834639" cy="329182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 w="12700" cmpd="sng" cap="flat">
            <a:noFill/>
            <a:prstDash val="solid"/>
            <a:miter/>
          </a:ln>
        </p:spPr>
      </p:sp>
      <p:sp>
        <p:nvSpPr>
          <p:cNvPr id="230" name="Rectangles"/>
          <p:cNvSpPr>
            <a:spLocks/>
          </p:cNvSpPr>
          <p:nvPr/>
        </p:nvSpPr>
        <p:spPr>
          <a:xfrm rot="0">
            <a:off x="8851392" y="292608"/>
            <a:ext cx="2834639" cy="32918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0" cap="none" spc="10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TECHNICAL DETAIL  ·  Tech Review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1" name="Rectangles"/>
          <p:cNvSpPr>
            <a:spLocks/>
          </p:cNvSpPr>
          <p:nvPr/>
        </p:nvSpPr>
        <p:spPr>
          <a:xfrm rot="0">
            <a:off x="548640" y="384048"/>
            <a:ext cx="7772400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200" baseline="0">
                <a:solidFill>
                  <a:srgbClr val="1C729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PART B · THE HOW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2" name="Rectangles"/>
          <p:cNvSpPr>
            <a:spLocks/>
          </p:cNvSpPr>
          <p:nvPr/>
        </p:nvSpPr>
        <p:spPr>
          <a:xfrm rot="0">
            <a:off x="548640" y="676656"/>
            <a:ext cx="10789920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How it fits together — reuse, don't silo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3" name="Rounded rectangle"/>
          <p:cNvSpPr>
            <a:spLocks/>
          </p:cNvSpPr>
          <p:nvPr/>
        </p:nvSpPr>
        <p:spPr>
          <a:xfrm rot="0">
            <a:off x="548640" y="1691639"/>
            <a:ext cx="11064240" cy="9875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234" name="Oval"/>
          <p:cNvSpPr>
            <a:spLocks/>
          </p:cNvSpPr>
          <p:nvPr/>
        </p:nvSpPr>
        <p:spPr>
          <a:xfrm rot="0">
            <a:off x="822960" y="1911096"/>
            <a:ext cx="548640" cy="548640"/>
          </a:xfrm>
          <a:prstGeom prst="ellipse"/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pic>
        <p:nvPicPr>
          <p:cNvPr id="235" name="Images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960120" y="2048255"/>
            <a:ext cx="274320" cy="27431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36" name="Rectangles"/>
          <p:cNvSpPr>
            <a:spLocks/>
          </p:cNvSpPr>
          <p:nvPr/>
        </p:nvSpPr>
        <p:spPr>
          <a:xfrm rot="0">
            <a:off x="1600200" y="1837944"/>
            <a:ext cx="978408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Dashboard added onto the main React codebase</a:t>
            </a:r>
            <a:endParaRPr lang="zh-CN" altLang="en-US" sz="15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7" name="Rectangles"/>
          <p:cNvSpPr>
            <a:spLocks/>
          </p:cNvSpPr>
          <p:nvPr/>
        </p:nvSpPr>
        <p:spPr>
          <a:xfrm rot="0">
            <a:off x="1600200" y="2194560"/>
            <a:ext cx="978408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Not a standalone app — a module in the shared SPA. One web application, one login, consistent UX.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8" name="Rounded rectangle"/>
          <p:cNvSpPr>
            <a:spLocks/>
          </p:cNvSpPr>
          <p:nvPr/>
        </p:nvSpPr>
        <p:spPr>
          <a:xfrm rot="0">
            <a:off x="548640" y="2825496"/>
            <a:ext cx="11064240" cy="987551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239" name="Oval"/>
          <p:cNvSpPr>
            <a:spLocks/>
          </p:cNvSpPr>
          <p:nvPr/>
        </p:nvSpPr>
        <p:spPr>
          <a:xfrm rot="0">
            <a:off x="822960" y="3044952"/>
            <a:ext cx="548640" cy="548640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pic>
        <p:nvPicPr>
          <p:cNvPr id="240" name="Images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960120" y="3182112"/>
            <a:ext cx="274320" cy="27432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41" name="Rectangles"/>
          <p:cNvSpPr>
            <a:spLocks/>
          </p:cNvSpPr>
          <p:nvPr/>
        </p:nvSpPr>
        <p:spPr>
          <a:xfrm rot="0">
            <a:off x="1600200" y="2971799"/>
            <a:ext cx="978408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Data processing parked in a Python / DuckDB container</a:t>
            </a:r>
            <a:endParaRPr lang="zh-CN" altLang="en-US" sz="15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2" name="Rectangles"/>
          <p:cNvSpPr>
            <a:spLocks/>
          </p:cNvSpPr>
          <p:nvPr/>
        </p:nvSpPr>
        <p:spPr>
          <a:xfrm rot="0">
            <a:off x="1600200" y="3328416"/>
            <a:ext cx="978408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Deployed to OpenShift alongside the existing Java service containers.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3" name="Rounded rectangle"/>
          <p:cNvSpPr>
            <a:spLocks/>
          </p:cNvSpPr>
          <p:nvPr/>
        </p:nvSpPr>
        <p:spPr>
          <a:xfrm rot="0">
            <a:off x="548640" y="3959352"/>
            <a:ext cx="11064240" cy="9875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244" name="Oval"/>
          <p:cNvSpPr>
            <a:spLocks/>
          </p:cNvSpPr>
          <p:nvPr/>
        </p:nvSpPr>
        <p:spPr>
          <a:xfrm rot="0">
            <a:off x="822960" y="4178808"/>
            <a:ext cx="548640" cy="548640"/>
          </a:xfrm>
          <a:prstGeom prst="ellipse"/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pic>
        <p:nvPicPr>
          <p:cNvPr id="245" name="Images" descr="preencod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960120" y="4315968"/>
            <a:ext cx="274320" cy="27432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46" name="Rectangles"/>
          <p:cNvSpPr>
            <a:spLocks/>
          </p:cNvSpPr>
          <p:nvPr/>
        </p:nvSpPr>
        <p:spPr>
          <a:xfrm rot="0">
            <a:off x="1600200" y="4105656"/>
            <a:ext cx="978408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Authentication via enhanced Java auth</a:t>
            </a:r>
            <a:endParaRPr lang="zh-CN" altLang="en-US" sz="15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7" name="Rectangles"/>
          <p:cNvSpPr>
            <a:spLocks/>
          </p:cNvSpPr>
          <p:nvPr/>
        </p:nvSpPr>
        <p:spPr>
          <a:xfrm rot="0">
            <a:off x="1600200" y="4462272"/>
            <a:ext cx="978408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We extend the existing auth service so one identity layer covers both main reporting and the analysis dashboard — no new identity stack to build.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8" name="Rounded rectangle"/>
          <p:cNvSpPr>
            <a:spLocks/>
          </p:cNvSpPr>
          <p:nvPr/>
        </p:nvSpPr>
        <p:spPr>
          <a:xfrm rot="0">
            <a:off x="548640" y="5093208"/>
            <a:ext cx="11064240" cy="9875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249" name="Oval"/>
          <p:cNvSpPr>
            <a:spLocks/>
          </p:cNvSpPr>
          <p:nvPr/>
        </p:nvSpPr>
        <p:spPr>
          <a:xfrm rot="0">
            <a:off x="822960" y="5312664"/>
            <a:ext cx="548640" cy="548640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pic>
        <p:nvPicPr>
          <p:cNvPr id="250" name="Images" descr="preencoded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960120" y="5449824"/>
            <a:ext cx="274320" cy="27431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51" name="Rectangles"/>
          <p:cNvSpPr>
            <a:spLocks/>
          </p:cNvSpPr>
          <p:nvPr/>
        </p:nvSpPr>
        <p:spPr>
          <a:xfrm rot="0">
            <a:off x="1600200" y="5239512"/>
            <a:ext cx="9784080" cy="3657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One standardized API endpoint</a:t>
            </a:r>
            <a:endParaRPr lang="zh-CN" altLang="en-US" sz="15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2" name="Rectangles"/>
          <p:cNvSpPr>
            <a:spLocks/>
          </p:cNvSpPr>
          <p:nvPr/>
        </p:nvSpPr>
        <p:spPr>
          <a:xfrm rot="0">
            <a:off x="1600200" y="5596128"/>
            <a:ext cx="978408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All dashboard data queries flow through a single, consistent API — using workflow_name / view_name parameters.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95344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ounded rectangle"/>
          <p:cNvSpPr>
            <a:spLocks/>
          </p:cNvSpPr>
          <p:nvPr/>
        </p:nvSpPr>
        <p:spPr>
          <a:xfrm rot="0">
            <a:off x="8851392" y="292608"/>
            <a:ext cx="2834639" cy="329182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 w="12700" cmpd="sng" cap="flat">
            <a:noFill/>
            <a:prstDash val="solid"/>
            <a:miter/>
          </a:ln>
        </p:spPr>
      </p:sp>
      <p:sp>
        <p:nvSpPr>
          <p:cNvPr id="258" name="Rectangles"/>
          <p:cNvSpPr>
            <a:spLocks/>
          </p:cNvSpPr>
          <p:nvPr/>
        </p:nvSpPr>
        <p:spPr>
          <a:xfrm rot="0">
            <a:off x="8851392" y="292608"/>
            <a:ext cx="2834639" cy="32918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0" cap="none" spc="10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TECHNICAL DETAIL  ·  Tech Review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9" name="Rectangles"/>
          <p:cNvSpPr>
            <a:spLocks/>
          </p:cNvSpPr>
          <p:nvPr/>
        </p:nvSpPr>
        <p:spPr>
          <a:xfrm rot="0">
            <a:off x="548640" y="384048"/>
            <a:ext cx="7772400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200" baseline="0">
                <a:solidFill>
                  <a:srgbClr val="1C729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PART B · THE HOW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0" name="Rectangles"/>
          <p:cNvSpPr>
            <a:spLocks/>
          </p:cNvSpPr>
          <p:nvPr/>
        </p:nvSpPr>
        <p:spPr>
          <a:xfrm rot="0">
            <a:off x="548640" y="676656"/>
            <a:ext cx="10789920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Key engineering improvements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1" name="Rounded rectangle"/>
          <p:cNvSpPr>
            <a:spLocks/>
          </p:cNvSpPr>
          <p:nvPr/>
        </p:nvSpPr>
        <p:spPr>
          <a:xfrm rot="0">
            <a:off x="548640" y="1691639"/>
            <a:ext cx="5349239" cy="1627632"/>
          </a:xfrm>
          <a:prstGeom prst="roundRect">
            <a:avLst>
              <a:gd name="adj" fmla="val 5055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262" name="Oval"/>
          <p:cNvSpPr>
            <a:spLocks/>
          </p:cNvSpPr>
          <p:nvPr/>
        </p:nvSpPr>
        <p:spPr>
          <a:xfrm rot="0">
            <a:off x="822960" y="1984248"/>
            <a:ext cx="749808" cy="749808"/>
          </a:xfrm>
          <a:prstGeom prst="ellipse"/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pic>
        <p:nvPicPr>
          <p:cNvPr id="263" name="Images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014984" y="2176272"/>
            <a:ext cx="365758" cy="36575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64" name="Rectangles"/>
          <p:cNvSpPr>
            <a:spLocks/>
          </p:cNvSpPr>
          <p:nvPr/>
        </p:nvSpPr>
        <p:spPr>
          <a:xfrm rot="0">
            <a:off x="1783080" y="1965960"/>
            <a:ext cx="3886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Decoupled business logic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5" name="Rectangles"/>
          <p:cNvSpPr>
            <a:spLocks/>
          </p:cNvSpPr>
          <p:nvPr/>
        </p:nvSpPr>
        <p:spPr>
          <a:xfrm rot="0">
            <a:off x="1783080" y="2404872"/>
            <a:ext cx="38862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Field mapping &amp; join conditions separated from plumbing — written as SQL run on DuckDB, not buried in file/DB code.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6" name="Rounded rectangle"/>
          <p:cNvSpPr>
            <a:spLocks/>
          </p:cNvSpPr>
          <p:nvPr/>
        </p:nvSpPr>
        <p:spPr>
          <a:xfrm rot="0">
            <a:off x="6099048" y="1691639"/>
            <a:ext cx="5349239" cy="1627632"/>
          </a:xfrm>
          <a:prstGeom prst="roundRect">
            <a:avLst>
              <a:gd name="adj" fmla="val 5055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267" name="Oval"/>
          <p:cNvSpPr>
            <a:spLocks/>
          </p:cNvSpPr>
          <p:nvPr/>
        </p:nvSpPr>
        <p:spPr>
          <a:xfrm rot="0">
            <a:off x="6373367" y="1984248"/>
            <a:ext cx="749806" cy="749808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pic>
        <p:nvPicPr>
          <p:cNvPr id="268" name="Images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6565392" y="2176272"/>
            <a:ext cx="365758" cy="36575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69" name="Rectangles"/>
          <p:cNvSpPr>
            <a:spLocks/>
          </p:cNvSpPr>
          <p:nvPr/>
        </p:nvSpPr>
        <p:spPr>
          <a:xfrm rot="0">
            <a:off x="7333488" y="1965960"/>
            <a:ext cx="3886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Reusable Python “Steps”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0" name="Rectangles"/>
          <p:cNvSpPr>
            <a:spLocks/>
          </p:cNvSpPr>
          <p:nvPr/>
        </p:nvSpPr>
        <p:spPr>
          <a:xfrm rot="0">
            <a:off x="7333488" y="2404872"/>
            <a:ext cx="38862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Config / workflow-driven building blocks (read · transform · write) replace duplicated code across reports.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1" name="Rounded rectangle"/>
          <p:cNvSpPr>
            <a:spLocks/>
          </p:cNvSpPr>
          <p:nvPr/>
        </p:nvSpPr>
        <p:spPr>
          <a:xfrm rot="0">
            <a:off x="548640" y="3520440"/>
            <a:ext cx="5349239" cy="1627632"/>
          </a:xfrm>
          <a:prstGeom prst="roundRect">
            <a:avLst>
              <a:gd name="adj" fmla="val 5055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272" name="Oval"/>
          <p:cNvSpPr>
            <a:spLocks/>
          </p:cNvSpPr>
          <p:nvPr/>
        </p:nvSpPr>
        <p:spPr>
          <a:xfrm rot="0">
            <a:off x="822960" y="3813048"/>
            <a:ext cx="749808" cy="749807"/>
          </a:xfrm>
          <a:prstGeom prst="ellipse"/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pic>
        <p:nvPicPr>
          <p:cNvPr id="273" name="Images" descr="preencod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1014984" y="4005072"/>
            <a:ext cx="365758" cy="36575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74" name="Rectangles"/>
          <p:cNvSpPr>
            <a:spLocks/>
          </p:cNvSpPr>
          <p:nvPr/>
        </p:nvSpPr>
        <p:spPr>
          <a:xfrm rot="0">
            <a:off x="1783080" y="3794760"/>
            <a:ext cx="3886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DuckDB performance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5" name="Rectangles"/>
          <p:cNvSpPr>
            <a:spLocks/>
          </p:cNvSpPr>
          <p:nvPr/>
        </p:nvSpPr>
        <p:spPr>
          <a:xfrm rot="0">
            <a:off x="1783080" y="4233672"/>
            <a:ext cx="38862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Embedded C++ SQL engine for fast, in-process query and aggregation.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6" name="Rounded rectangle"/>
          <p:cNvSpPr>
            <a:spLocks/>
          </p:cNvSpPr>
          <p:nvPr/>
        </p:nvSpPr>
        <p:spPr>
          <a:xfrm rot="0">
            <a:off x="6099048" y="3520440"/>
            <a:ext cx="5349239" cy="1627632"/>
          </a:xfrm>
          <a:prstGeom prst="roundRect">
            <a:avLst>
              <a:gd name="adj" fmla="val 5055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277" name="Oval"/>
          <p:cNvSpPr>
            <a:spLocks/>
          </p:cNvSpPr>
          <p:nvPr/>
        </p:nvSpPr>
        <p:spPr>
          <a:xfrm rot="0">
            <a:off x="6373367" y="3813048"/>
            <a:ext cx="749806" cy="749807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pic>
        <p:nvPicPr>
          <p:cNvPr id="278" name="Images" descr="preencoded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6565392" y="4005072"/>
            <a:ext cx="365758" cy="36575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79" name="Rectangles"/>
          <p:cNvSpPr>
            <a:spLocks/>
          </p:cNvSpPr>
          <p:nvPr/>
        </p:nvSpPr>
        <p:spPr>
          <a:xfrm rot="0">
            <a:off x="7333488" y="3794760"/>
            <a:ext cx="3886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Automated regression testing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0" name="Rectangles"/>
          <p:cNvSpPr>
            <a:spLocks/>
          </p:cNvSpPr>
          <p:nvPr/>
        </p:nvSpPr>
        <p:spPr>
          <a:xfrm rot="0">
            <a:off x="7333488" y="4233672"/>
            <a:ext cx="388620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Standardized steps + decoupled logic make automated data-comparison after changes practical.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369533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Rounded rectangle"/>
          <p:cNvSpPr>
            <a:spLocks/>
          </p:cNvSpPr>
          <p:nvPr/>
        </p:nvSpPr>
        <p:spPr>
          <a:xfrm rot="0">
            <a:off x="8851392" y="292608"/>
            <a:ext cx="2834639" cy="329182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 w="12700" cmpd="sng" cap="flat">
            <a:noFill/>
            <a:prstDash val="solid"/>
            <a:miter/>
          </a:ln>
        </p:spPr>
      </p:sp>
      <p:sp>
        <p:nvSpPr>
          <p:cNvPr id="286" name="Rectangles"/>
          <p:cNvSpPr>
            <a:spLocks/>
          </p:cNvSpPr>
          <p:nvPr/>
        </p:nvSpPr>
        <p:spPr>
          <a:xfrm rot="0">
            <a:off x="8851392" y="292608"/>
            <a:ext cx="2834639" cy="32918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0" cap="none" spc="10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TECHNICAL DETAIL  ·  Tech Review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7" name="Rectangles"/>
          <p:cNvSpPr>
            <a:spLocks/>
          </p:cNvSpPr>
          <p:nvPr/>
        </p:nvSpPr>
        <p:spPr>
          <a:xfrm rot="0">
            <a:off x="548640" y="384048"/>
            <a:ext cx="7772400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200" baseline="0">
                <a:solidFill>
                  <a:srgbClr val="1C729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PART B · THE HOW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8" name="Rectangles"/>
          <p:cNvSpPr>
            <a:spLocks/>
          </p:cNvSpPr>
          <p:nvPr/>
        </p:nvSpPr>
        <p:spPr>
          <a:xfrm rot="0">
            <a:off x="548640" y="676656"/>
            <a:ext cx="10789920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Access control &amp; governance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9" name="Rounded rectangle"/>
          <p:cNvSpPr>
            <a:spLocks/>
          </p:cNvSpPr>
          <p:nvPr/>
        </p:nvSpPr>
        <p:spPr>
          <a:xfrm rot="0">
            <a:off x="548640" y="1691639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F6EAEA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pic>
        <p:nvPicPr>
          <p:cNvPr id="290" name="Images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868680" y="1965960"/>
            <a:ext cx="411478" cy="41148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91" name="Rectangles"/>
          <p:cNvSpPr>
            <a:spLocks/>
          </p:cNvSpPr>
          <p:nvPr/>
        </p:nvSpPr>
        <p:spPr>
          <a:xfrm rot="0">
            <a:off x="1417320" y="1965960"/>
            <a:ext cx="2743200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0" cap="none" spc="200" baseline="0">
                <a:solidFill>
                  <a:srgbClr val="9A3B3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TODAY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2" name="Rectangles"/>
          <p:cNvSpPr>
            <a:spLocks/>
          </p:cNvSpPr>
          <p:nvPr/>
        </p:nvSpPr>
        <p:spPr>
          <a:xfrm rot="0">
            <a:off x="868680" y="2560320"/>
            <a:ext cx="4709160" cy="1737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342900" indent="-34290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Char char="•"/>
            </a:pPr>
            <a:r>
              <a:rPr lang="en-US" altLang="zh-CN" sz="1350" b="0" i="0" u="none" strike="noStrike" kern="1200" cap="none" spc="0" baseline="0">
                <a:solidFill>
                  <a:srgbClr val="1B243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RBAC table updated via Excel in DriveX</a:t>
            </a:r>
            <a:endParaRPr lang="en-US" altLang="zh-CN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Char char="•"/>
            </a:pPr>
            <a:r>
              <a:rPr lang="en-US" altLang="zh-CN" sz="1350" b="0" i="0" u="none" strike="noStrike" kern="1200" cap="none" spc="0" baseline="0">
                <a:solidFill>
                  <a:srgbClr val="1B243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Owned and edited by the ILMA team</a:t>
            </a:r>
            <a:endParaRPr lang="en-US" altLang="zh-CN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Char char="•"/>
            </a:pPr>
            <a:r>
              <a:rPr lang="en-US" altLang="zh-CN" sz="1350" b="0" i="0" u="none" strike="noStrike" kern="1200" cap="none" spc="0" baseline="0">
                <a:solidFill>
                  <a:srgbClr val="1B243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Configs (e.g. warning signals) via template files</a:t>
            </a:r>
            <a:endParaRPr lang="en-US" altLang="zh-CN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Char char="•"/>
            </a:pPr>
            <a:r>
              <a:rPr lang="en-US" altLang="zh-CN" sz="1350" b="0" i="0" u="none" strike="noStrike" kern="1200" cap="none" spc="0" baseline="0">
                <a:solidFill>
                  <a:srgbClr val="1B243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Access control per user group is difficult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3" name="Rounded rectangle"/>
          <p:cNvSpPr>
            <a:spLocks/>
          </p:cNvSpPr>
          <p:nvPr/>
        </p:nvSpPr>
        <p:spPr>
          <a:xfrm rot="0">
            <a:off x="6400800" y="1691639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E3F0F1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pic>
        <p:nvPicPr>
          <p:cNvPr id="294" name="Images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6720839" y="1965960"/>
            <a:ext cx="411480" cy="41148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95" name="Rectangles"/>
          <p:cNvSpPr>
            <a:spLocks/>
          </p:cNvSpPr>
          <p:nvPr/>
        </p:nvSpPr>
        <p:spPr>
          <a:xfrm rot="0">
            <a:off x="7269480" y="1965960"/>
            <a:ext cx="2743200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0" cap="none" spc="200" baseline="0">
                <a:solidFill>
                  <a:srgbClr val="065A8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TOMORROW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6" name="Rectangles"/>
          <p:cNvSpPr>
            <a:spLocks/>
          </p:cNvSpPr>
          <p:nvPr/>
        </p:nvSpPr>
        <p:spPr>
          <a:xfrm rot="0">
            <a:off x="6720839" y="2560320"/>
            <a:ext cx="4709160" cy="1737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342900" indent="-34290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Char char="•"/>
            </a:pPr>
            <a:r>
              <a:rPr lang="en-US" altLang="zh-CN" sz="1350" b="0" i="0" u="none" strike="noStrike" kern="1200" cap="none" spc="0" baseline="0">
                <a:solidFill>
                  <a:srgbClr val="1B243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Granular, app-native access control</a:t>
            </a:r>
            <a:endParaRPr lang="en-US" altLang="zh-CN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Char char="•"/>
            </a:pPr>
            <a:r>
              <a:rPr lang="en-US" altLang="zh-CN" sz="1350" b="0" i="0" u="none" strike="noStrike" kern="1200" cap="none" spc="0" baseline="0">
                <a:solidFill>
                  <a:srgbClr val="1B243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API workflow_name / view_name params for structured per-group access</a:t>
            </a:r>
            <a:endParaRPr lang="en-US" altLang="zh-CN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Char char="•"/>
            </a:pPr>
            <a:r>
              <a:rPr lang="en-US" altLang="zh-CN" sz="1350" b="0" i="0" u="none" strike="noStrike" kern="1200" cap="none" spc="0" baseline="0">
                <a:solidFill>
                  <a:srgbClr val="1B243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Aligned with the enhanced Java auth service</a:t>
            </a:r>
            <a:endParaRPr lang="en-US" altLang="zh-CN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Char char="•"/>
            </a:pPr>
            <a:r>
              <a:rPr lang="en-US" altLang="zh-CN" sz="1350" b="0" i="0" u="none" strike="noStrike" kern="1200" cap="none" spc="0" baseline="0">
                <a:solidFill>
                  <a:srgbClr val="1B243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Stronger, auditable compliance posture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7" name="Rectangles"/>
          <p:cNvSpPr>
            <a:spLocks/>
          </p:cNvSpPr>
          <p:nvPr/>
        </p:nvSpPr>
        <p:spPr>
          <a:xfrm rot="0">
            <a:off x="548640" y="4709160"/>
            <a:ext cx="1106424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1" u="none" strike="noStrike" kern="1200" cap="none" spc="0" baseline="0">
                <a:solidFill>
                  <a:srgbClr val="1C729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One identity layer now governs both main reporting and the analysis dashboard — consistent permissions, single audit trail.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146098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ounded rectangle"/>
          <p:cNvSpPr>
            <a:spLocks/>
          </p:cNvSpPr>
          <p:nvPr/>
        </p:nvSpPr>
        <p:spPr>
          <a:xfrm rot="0">
            <a:off x="8851392" y="292608"/>
            <a:ext cx="2834639" cy="329182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 w="12700" cmpd="sng" cap="flat">
            <a:noFill/>
            <a:prstDash val="solid"/>
            <a:miter/>
          </a:ln>
        </p:spPr>
      </p:sp>
      <p:sp>
        <p:nvSpPr>
          <p:cNvPr id="303" name="Rectangles"/>
          <p:cNvSpPr>
            <a:spLocks/>
          </p:cNvSpPr>
          <p:nvPr/>
        </p:nvSpPr>
        <p:spPr>
          <a:xfrm rot="0">
            <a:off x="8851392" y="292608"/>
            <a:ext cx="2834639" cy="32918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0" cap="none" spc="10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TECHNICAL DETAIL  ·  Tech Review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4" name="Rectangles"/>
          <p:cNvSpPr>
            <a:spLocks/>
          </p:cNvSpPr>
          <p:nvPr/>
        </p:nvSpPr>
        <p:spPr>
          <a:xfrm rot="0">
            <a:off x="548640" y="384048"/>
            <a:ext cx="7772400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200" baseline="0">
                <a:solidFill>
                  <a:srgbClr val="1C729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PART B · THE HOW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5" name="Rectangles"/>
          <p:cNvSpPr>
            <a:spLocks/>
          </p:cNvSpPr>
          <p:nvPr/>
        </p:nvSpPr>
        <p:spPr>
          <a:xfrm rot="0">
            <a:off x="548640" y="676656"/>
            <a:ext cx="10789920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Migration approach &amp; status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6" name="Rounded rectangle"/>
          <p:cNvSpPr>
            <a:spLocks/>
          </p:cNvSpPr>
          <p:nvPr/>
        </p:nvSpPr>
        <p:spPr>
          <a:xfrm rot="0">
            <a:off x="548640" y="1828800"/>
            <a:ext cx="2670048" cy="288036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307" name="Oval"/>
          <p:cNvSpPr>
            <a:spLocks/>
          </p:cNvSpPr>
          <p:nvPr/>
        </p:nvSpPr>
        <p:spPr>
          <a:xfrm rot="0">
            <a:off x="1472183" y="2148840"/>
            <a:ext cx="822960" cy="822960"/>
          </a:xfrm>
          <a:prstGeom prst="ellipse"/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pic>
        <p:nvPicPr>
          <p:cNvPr id="308" name="Images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682496" y="2359152"/>
            <a:ext cx="402336" cy="402336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09" name="Rectangles"/>
          <p:cNvSpPr>
            <a:spLocks/>
          </p:cNvSpPr>
          <p:nvPr/>
        </p:nvSpPr>
        <p:spPr>
          <a:xfrm rot="0">
            <a:off x="731520" y="3063239"/>
            <a:ext cx="2304288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0" cap="none" spc="20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STEP 1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0" name="Rectangles"/>
          <p:cNvSpPr>
            <a:spLocks/>
          </p:cNvSpPr>
          <p:nvPr/>
        </p:nvSpPr>
        <p:spPr>
          <a:xfrm rot="0">
            <a:off x="731520" y="3310127"/>
            <a:ext cx="2304288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Build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1" name="Rectangles"/>
          <p:cNvSpPr>
            <a:spLocks/>
          </p:cNvSpPr>
          <p:nvPr/>
        </p:nvSpPr>
        <p:spPr>
          <a:xfrm rot="0">
            <a:off x="749808" y="3703319"/>
            <a:ext cx="2267712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Stand up Python/DuckDB container &amp; dashboard module on OpenShift.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2" name="Rounded rectangle"/>
          <p:cNvSpPr>
            <a:spLocks/>
          </p:cNvSpPr>
          <p:nvPr/>
        </p:nvSpPr>
        <p:spPr>
          <a:xfrm rot="0">
            <a:off x="1106424" y="42519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F9D8C"/>
          </a:solidFill>
          <a:ln w="12700" cmpd="sng" cap="flat">
            <a:noFill/>
            <a:prstDash val="solid"/>
            <a:miter/>
          </a:ln>
        </p:spPr>
      </p:sp>
      <p:sp>
        <p:nvSpPr>
          <p:cNvPr id="313" name="Rectangles"/>
          <p:cNvSpPr>
            <a:spLocks/>
          </p:cNvSpPr>
          <p:nvPr/>
        </p:nvSpPr>
        <p:spPr>
          <a:xfrm rot="0">
            <a:off x="1106424" y="4251960"/>
            <a:ext cx="1554480" cy="3108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 progress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4" name="Rounded rectangle"/>
          <p:cNvSpPr>
            <a:spLocks/>
          </p:cNvSpPr>
          <p:nvPr/>
        </p:nvSpPr>
        <p:spPr>
          <a:xfrm rot="0">
            <a:off x="3383279" y="1828800"/>
            <a:ext cx="2670048" cy="288036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315" name="Oval"/>
          <p:cNvSpPr>
            <a:spLocks/>
          </p:cNvSpPr>
          <p:nvPr/>
        </p:nvSpPr>
        <p:spPr>
          <a:xfrm rot="0">
            <a:off x="4306824" y="2148840"/>
            <a:ext cx="822960" cy="822960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pic>
        <p:nvPicPr>
          <p:cNvPr id="316" name="Images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4517136" y="2359152"/>
            <a:ext cx="402336" cy="402336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17" name="Rectangles"/>
          <p:cNvSpPr>
            <a:spLocks/>
          </p:cNvSpPr>
          <p:nvPr/>
        </p:nvSpPr>
        <p:spPr>
          <a:xfrm rot="0">
            <a:off x="3566160" y="3063239"/>
            <a:ext cx="2304287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0" cap="none" spc="20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STEP 2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8" name="Rectangles"/>
          <p:cNvSpPr>
            <a:spLocks/>
          </p:cNvSpPr>
          <p:nvPr/>
        </p:nvSpPr>
        <p:spPr>
          <a:xfrm rot="0">
            <a:off x="3566160" y="3310127"/>
            <a:ext cx="2304287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Parallel run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9" name="Rectangles"/>
          <p:cNvSpPr>
            <a:spLocks/>
          </p:cNvSpPr>
          <p:nvPr/>
        </p:nvSpPr>
        <p:spPr>
          <a:xfrm rot="0">
            <a:off x="3584448" y="3703319"/>
            <a:ext cx="2267712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Run new system alongside Tableau; no disruption to users.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20" name="Rounded rectangle"/>
          <p:cNvSpPr>
            <a:spLocks/>
          </p:cNvSpPr>
          <p:nvPr/>
        </p:nvSpPr>
        <p:spPr>
          <a:xfrm rot="0">
            <a:off x="3941064" y="4251960"/>
            <a:ext cx="1554479" cy="310896"/>
          </a:xfrm>
          <a:prstGeom prst="roundRect">
            <a:avLst>
              <a:gd name="adj" fmla="val 50000"/>
            </a:avLst>
          </a:prstGeom>
          <a:solidFill>
            <a:srgbClr val="D7E6EE"/>
          </a:solidFill>
          <a:ln w="12700" cmpd="sng" cap="flat">
            <a:noFill/>
            <a:prstDash val="solid"/>
            <a:miter/>
          </a:ln>
        </p:spPr>
      </p:sp>
      <p:sp>
        <p:nvSpPr>
          <p:cNvPr id="321" name="Rectangles"/>
          <p:cNvSpPr>
            <a:spLocks/>
          </p:cNvSpPr>
          <p:nvPr/>
        </p:nvSpPr>
        <p:spPr>
          <a:xfrm rot="0">
            <a:off x="3941064" y="4251960"/>
            <a:ext cx="1554479" cy="3108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Next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22" name="Rounded rectangle"/>
          <p:cNvSpPr>
            <a:spLocks/>
          </p:cNvSpPr>
          <p:nvPr/>
        </p:nvSpPr>
        <p:spPr>
          <a:xfrm rot="0">
            <a:off x="6217920" y="1828800"/>
            <a:ext cx="2670048" cy="288036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323" name="Oval"/>
          <p:cNvSpPr>
            <a:spLocks/>
          </p:cNvSpPr>
          <p:nvPr/>
        </p:nvSpPr>
        <p:spPr>
          <a:xfrm rot="0">
            <a:off x="7141464" y="2148840"/>
            <a:ext cx="822958" cy="822960"/>
          </a:xfrm>
          <a:prstGeom prst="ellipse"/>
          <a:solidFill>
            <a:srgbClr val="065A82"/>
          </a:solidFill>
          <a:ln w="12700" cmpd="sng" cap="flat">
            <a:noFill/>
            <a:prstDash val="solid"/>
            <a:miter/>
          </a:ln>
        </p:spPr>
      </p:sp>
      <p:pic>
        <p:nvPicPr>
          <p:cNvPr id="324" name="Images" descr="preencod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7351776" y="2359152"/>
            <a:ext cx="402336" cy="402336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25" name="Rectangles"/>
          <p:cNvSpPr>
            <a:spLocks/>
          </p:cNvSpPr>
          <p:nvPr/>
        </p:nvSpPr>
        <p:spPr>
          <a:xfrm rot="0">
            <a:off x="6400800" y="3063239"/>
            <a:ext cx="2304288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0" cap="none" spc="20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STEP 3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26" name="Rectangles"/>
          <p:cNvSpPr>
            <a:spLocks/>
          </p:cNvSpPr>
          <p:nvPr/>
        </p:nvSpPr>
        <p:spPr>
          <a:xfrm rot="0">
            <a:off x="6400800" y="3310127"/>
            <a:ext cx="2304288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Validate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27" name="Rectangles"/>
          <p:cNvSpPr>
            <a:spLocks/>
          </p:cNvSpPr>
          <p:nvPr/>
        </p:nvSpPr>
        <p:spPr>
          <a:xfrm rot="0">
            <a:off x="6419087" y="3703319"/>
            <a:ext cx="2267712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Automated data comparison of new outputs vs existing reports.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28" name="Rounded rectangle"/>
          <p:cNvSpPr>
            <a:spLocks/>
          </p:cNvSpPr>
          <p:nvPr/>
        </p:nvSpPr>
        <p:spPr>
          <a:xfrm rot="0">
            <a:off x="6775704" y="42519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7E6EE"/>
          </a:solidFill>
          <a:ln w="12700" cmpd="sng" cap="flat">
            <a:noFill/>
            <a:prstDash val="solid"/>
            <a:miter/>
          </a:ln>
        </p:spPr>
      </p:sp>
      <p:sp>
        <p:nvSpPr>
          <p:cNvPr id="329" name="Rectangles"/>
          <p:cNvSpPr>
            <a:spLocks/>
          </p:cNvSpPr>
          <p:nvPr/>
        </p:nvSpPr>
        <p:spPr>
          <a:xfrm rot="0">
            <a:off x="6775704" y="4251960"/>
            <a:ext cx="1554480" cy="3108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Next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0" name="Rounded rectangle"/>
          <p:cNvSpPr>
            <a:spLocks/>
          </p:cNvSpPr>
          <p:nvPr/>
        </p:nvSpPr>
        <p:spPr>
          <a:xfrm rot="0">
            <a:off x="9052560" y="1828800"/>
            <a:ext cx="2670048" cy="288036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 cmpd="sng" cap="flat">
            <a:noFill/>
            <a:prstDash val="solid"/>
            <a:miter/>
          </a:ln>
          <a:effectLst>
            <a:outerShdw sx="100000" sy="100000" algn="bl" rotWithShape="0" blurRad="88900" dist="38100" dir="5400000">
              <a:srgbClr val="000000">
                <a:alpha val="15686"/>
              </a:srgbClr>
            </a:outerShdw>
          </a:effectLst>
        </p:spPr>
      </p:sp>
      <p:sp>
        <p:nvSpPr>
          <p:cNvPr id="331" name="Oval"/>
          <p:cNvSpPr>
            <a:spLocks/>
          </p:cNvSpPr>
          <p:nvPr/>
        </p:nvSpPr>
        <p:spPr>
          <a:xfrm rot="0">
            <a:off x="9976104" y="2148840"/>
            <a:ext cx="822960" cy="822960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pic>
        <p:nvPicPr>
          <p:cNvPr id="332" name="Images" descr="preencoded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10186416" y="2359152"/>
            <a:ext cx="402334" cy="402336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33" name="Rectangles"/>
          <p:cNvSpPr>
            <a:spLocks/>
          </p:cNvSpPr>
          <p:nvPr/>
        </p:nvSpPr>
        <p:spPr>
          <a:xfrm rot="0">
            <a:off x="9235440" y="3063239"/>
            <a:ext cx="2304286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0" cap="none" spc="20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STEP 4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4" name="Rectangles"/>
          <p:cNvSpPr>
            <a:spLocks/>
          </p:cNvSpPr>
          <p:nvPr/>
        </p:nvSpPr>
        <p:spPr>
          <a:xfrm rot="0">
            <a:off x="9235440" y="3310127"/>
            <a:ext cx="2304286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Cutover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5" name="Rectangles"/>
          <p:cNvSpPr>
            <a:spLocks/>
          </p:cNvSpPr>
          <p:nvPr/>
        </p:nvSpPr>
        <p:spPr>
          <a:xfrm rot="0">
            <a:off x="9253728" y="3703319"/>
            <a:ext cx="2267712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Switch users over; decommission Tableau reporting.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6" name="Rounded rectangle"/>
          <p:cNvSpPr>
            <a:spLocks/>
          </p:cNvSpPr>
          <p:nvPr/>
        </p:nvSpPr>
        <p:spPr>
          <a:xfrm rot="0">
            <a:off x="9610344" y="42519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7E6EE"/>
          </a:solidFill>
          <a:ln w="12700" cmpd="sng" cap="flat">
            <a:noFill/>
            <a:prstDash val="solid"/>
            <a:miter/>
          </a:ln>
        </p:spPr>
      </p:sp>
      <p:sp>
        <p:nvSpPr>
          <p:cNvPr id="337" name="Rectangles"/>
          <p:cNvSpPr>
            <a:spLocks/>
          </p:cNvSpPr>
          <p:nvPr/>
        </p:nvSpPr>
        <p:spPr>
          <a:xfrm rot="0">
            <a:off x="9610344" y="4251960"/>
            <a:ext cx="1554480" cy="3108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21295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Planned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8" name="Rectangles"/>
          <p:cNvSpPr>
            <a:spLocks/>
          </p:cNvSpPr>
          <p:nvPr/>
        </p:nvSpPr>
        <p:spPr>
          <a:xfrm rot="0">
            <a:off x="548640" y="5074920"/>
            <a:ext cx="11064240" cy="3657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1" u="none" strike="noStrike" kern="1200" cap="none" spc="0" baseline="0">
                <a:solidFill>
                  <a:srgbClr val="1C7293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Correctness is proven before cutover: every new report is automatically compared against the current Tableau output.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9" name="Rectangles"/>
          <p:cNvSpPr>
            <a:spLocks/>
          </p:cNvSpPr>
          <p:nvPr/>
        </p:nvSpPr>
        <p:spPr>
          <a:xfrm rot="0">
            <a:off x="548640" y="5440678"/>
            <a:ext cx="1106424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5B6B7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[ Dates &amp; milestones — to be filled in with the team ]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960272"/>
      </p:ext>
    </p:extLst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Rounded rectangle"/>
          <p:cNvSpPr>
            <a:spLocks/>
          </p:cNvSpPr>
          <p:nvPr/>
        </p:nvSpPr>
        <p:spPr>
          <a:xfrm rot="0">
            <a:off x="8851392" y="292608"/>
            <a:ext cx="2834639" cy="329182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 w="12700" cmpd="sng" cap="flat">
            <a:noFill/>
            <a:prstDash val="solid"/>
            <a:miter/>
          </a:ln>
        </p:spPr>
      </p:sp>
      <p:sp>
        <p:nvSpPr>
          <p:cNvPr id="345" name="Rectangles"/>
          <p:cNvSpPr>
            <a:spLocks/>
          </p:cNvSpPr>
          <p:nvPr/>
        </p:nvSpPr>
        <p:spPr>
          <a:xfrm rot="0">
            <a:off x="8851392" y="292608"/>
            <a:ext cx="2834639" cy="32918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0" cap="none" spc="10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TECHNICAL DETAIL  ·  Tech Review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6" name="Rectangles"/>
          <p:cNvSpPr>
            <a:spLocks/>
          </p:cNvSpPr>
          <p:nvPr/>
        </p:nvSpPr>
        <p:spPr>
          <a:xfrm rot="0">
            <a:off x="640080" y="457200"/>
            <a:ext cx="731520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200" baseline="0">
                <a:solidFill>
                  <a:srgbClr val="8FB8C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PART B · HONEST CLOSER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7" name="Rectangles"/>
          <p:cNvSpPr>
            <a:spLocks/>
          </p:cNvSpPr>
          <p:nvPr/>
        </p:nvSpPr>
        <p:spPr>
          <a:xfrm rot="0">
            <a:off x="640080" y="777240"/>
            <a:ext cx="10515600" cy="7315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Risks, considerations &amp; next steps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8" name="Rectangles"/>
          <p:cNvSpPr>
            <a:spLocks/>
          </p:cNvSpPr>
          <p:nvPr/>
        </p:nvSpPr>
        <p:spPr>
          <a:xfrm rot="0">
            <a:off x="640080" y="1691639"/>
            <a:ext cx="5303520" cy="3200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0" cap="none" spc="150" baseline="0">
                <a:solidFill>
                  <a:srgbClr val="7FD1C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WHAT TO WATCH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9" name="Rounded rectangle"/>
          <p:cNvSpPr>
            <a:spLocks/>
          </p:cNvSpPr>
          <p:nvPr/>
        </p:nvSpPr>
        <p:spPr>
          <a:xfrm rot="0">
            <a:off x="640080" y="2103120"/>
            <a:ext cx="5303520" cy="1207008"/>
          </a:xfrm>
          <a:prstGeom prst="roundRect">
            <a:avLst>
              <a:gd name="adj" fmla="val 6819"/>
            </a:avLst>
          </a:prstGeom>
          <a:solidFill>
            <a:srgbClr val="2C386E"/>
          </a:solidFill>
          <a:ln w="12700" cmpd="sng" cap="flat">
            <a:noFill/>
            <a:prstDash val="solid"/>
            <a:miter/>
          </a:ln>
        </p:spPr>
      </p:sp>
      <p:pic>
        <p:nvPicPr>
          <p:cNvPr id="350" name="Images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914400" y="2359152"/>
            <a:ext cx="420624" cy="420624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51" name="Rectangles"/>
          <p:cNvSpPr>
            <a:spLocks/>
          </p:cNvSpPr>
          <p:nvPr/>
        </p:nvSpPr>
        <p:spPr>
          <a:xfrm rot="0">
            <a:off x="1508758" y="2286000"/>
            <a:ext cx="420624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Ownership shifts in-house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2" name="Rectangles"/>
          <p:cNvSpPr>
            <a:spLocks/>
          </p:cNvSpPr>
          <p:nvPr/>
        </p:nvSpPr>
        <p:spPr>
          <a:xfrm rot="0">
            <a:off x="1508758" y="2651760"/>
            <a:ext cx="4251960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Maintenance &amp; on-call move to DBS — Tableau used to absorb this.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3" name="Rounded rectangle"/>
          <p:cNvSpPr>
            <a:spLocks/>
          </p:cNvSpPr>
          <p:nvPr/>
        </p:nvSpPr>
        <p:spPr>
          <a:xfrm rot="0">
            <a:off x="640080" y="3456431"/>
            <a:ext cx="5303520" cy="1207007"/>
          </a:xfrm>
          <a:prstGeom prst="roundRect">
            <a:avLst>
              <a:gd name="adj" fmla="val 6819"/>
            </a:avLst>
          </a:prstGeom>
          <a:solidFill>
            <a:srgbClr val="2C386E"/>
          </a:solidFill>
          <a:ln w="12700" cmpd="sng" cap="flat">
            <a:noFill/>
            <a:prstDash val="solid"/>
            <a:miter/>
          </a:ln>
        </p:spPr>
      </p:sp>
      <p:pic>
        <p:nvPicPr>
          <p:cNvPr id="354" name="Images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914400" y="3712464"/>
            <a:ext cx="420624" cy="420624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55" name="Rectangles"/>
          <p:cNvSpPr>
            <a:spLocks/>
          </p:cNvSpPr>
          <p:nvPr/>
        </p:nvSpPr>
        <p:spPr>
          <a:xfrm rot="0">
            <a:off x="1508758" y="3639312"/>
            <a:ext cx="420624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Shared codebase coordination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6" name="Rectangles"/>
          <p:cNvSpPr>
            <a:spLocks/>
          </p:cNvSpPr>
          <p:nvPr/>
        </p:nvSpPr>
        <p:spPr>
          <a:xfrm rot="0">
            <a:off x="1508758" y="4005072"/>
            <a:ext cx="4251960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Dashboard lives in a React app owned with other teams.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7" name="Rounded rectangle"/>
          <p:cNvSpPr>
            <a:spLocks/>
          </p:cNvSpPr>
          <p:nvPr/>
        </p:nvSpPr>
        <p:spPr>
          <a:xfrm rot="0">
            <a:off x="640080" y="4809744"/>
            <a:ext cx="5303520" cy="1207008"/>
          </a:xfrm>
          <a:prstGeom prst="roundRect">
            <a:avLst>
              <a:gd name="adj" fmla="val 6819"/>
            </a:avLst>
          </a:prstGeom>
          <a:solidFill>
            <a:srgbClr val="2C386E"/>
          </a:solidFill>
          <a:ln w="12700" cmpd="sng" cap="flat">
            <a:noFill/>
            <a:prstDash val="solid"/>
            <a:miter/>
          </a:ln>
        </p:spPr>
      </p:sp>
      <p:pic>
        <p:nvPicPr>
          <p:cNvPr id="358" name="Images" descr="preencod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914400" y="5065775"/>
            <a:ext cx="420624" cy="42062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59" name="Rectangles"/>
          <p:cNvSpPr>
            <a:spLocks/>
          </p:cNvSpPr>
          <p:nvPr/>
        </p:nvSpPr>
        <p:spPr>
          <a:xfrm rot="0">
            <a:off x="1508758" y="4992622"/>
            <a:ext cx="4206240" cy="3657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Skill coverage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0" name="Rectangles"/>
          <p:cNvSpPr>
            <a:spLocks/>
          </p:cNvSpPr>
          <p:nvPr/>
        </p:nvSpPr>
        <p:spPr>
          <a:xfrm rot="0">
            <a:off x="1508758" y="5358384"/>
            <a:ext cx="4251960" cy="5943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CADCF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Need internal depth in React, DuckDB and container ops.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1" name="Rectangles"/>
          <p:cNvSpPr>
            <a:spLocks/>
          </p:cNvSpPr>
          <p:nvPr/>
        </p:nvSpPr>
        <p:spPr>
          <a:xfrm rot="0">
            <a:off x="6309360" y="1691639"/>
            <a:ext cx="5303519" cy="3200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0" cap="none" spc="150" baseline="0">
                <a:solidFill>
                  <a:srgbClr val="7FD1C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NEXT STEPS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2" name="Rounded rectangle"/>
          <p:cNvSpPr>
            <a:spLocks/>
          </p:cNvSpPr>
          <p:nvPr/>
        </p:nvSpPr>
        <p:spPr>
          <a:xfrm rot="0">
            <a:off x="6309360" y="2103120"/>
            <a:ext cx="5212080" cy="3712464"/>
          </a:xfrm>
          <a:prstGeom prst="roundRect">
            <a:avLst>
              <a:gd name="adj" fmla="val 2462"/>
            </a:avLst>
          </a:prstGeom>
          <a:solidFill>
            <a:srgbClr val="2C386E"/>
          </a:solidFill>
          <a:ln w="12700" cmpd="sng" cap="flat">
            <a:noFill/>
            <a:prstDash val="solid"/>
            <a:miter/>
          </a:ln>
        </p:spPr>
      </p:sp>
      <p:sp>
        <p:nvSpPr>
          <p:cNvPr id="363" name="Oval"/>
          <p:cNvSpPr>
            <a:spLocks/>
          </p:cNvSpPr>
          <p:nvPr/>
        </p:nvSpPr>
        <p:spPr>
          <a:xfrm rot="0">
            <a:off x="6583680" y="2423160"/>
            <a:ext cx="457200" cy="457199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sp>
        <p:nvSpPr>
          <p:cNvPr id="364" name="Rectangles"/>
          <p:cNvSpPr>
            <a:spLocks/>
          </p:cNvSpPr>
          <p:nvPr/>
        </p:nvSpPr>
        <p:spPr>
          <a:xfrm rot="0">
            <a:off x="6583680" y="2423160"/>
            <a:ext cx="457200" cy="4571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5" name="Rectangles"/>
          <p:cNvSpPr>
            <a:spLocks/>
          </p:cNvSpPr>
          <p:nvPr/>
        </p:nvSpPr>
        <p:spPr>
          <a:xfrm rot="0">
            <a:off x="7223760" y="2377440"/>
            <a:ext cx="4114798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Secure approval to proceed with cutover plan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6" name="Oval"/>
          <p:cNvSpPr>
            <a:spLocks/>
          </p:cNvSpPr>
          <p:nvPr/>
        </p:nvSpPr>
        <p:spPr>
          <a:xfrm rot="0">
            <a:off x="6583680" y="3209543"/>
            <a:ext cx="457200" cy="457200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sp>
        <p:nvSpPr>
          <p:cNvPr id="367" name="Rectangles"/>
          <p:cNvSpPr>
            <a:spLocks/>
          </p:cNvSpPr>
          <p:nvPr/>
        </p:nvSpPr>
        <p:spPr>
          <a:xfrm rot="0">
            <a:off x="6583680" y="3209543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2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8" name="Rectangles"/>
          <p:cNvSpPr>
            <a:spLocks/>
          </p:cNvSpPr>
          <p:nvPr/>
        </p:nvSpPr>
        <p:spPr>
          <a:xfrm rot="0">
            <a:off x="7223760" y="3163823"/>
            <a:ext cx="4114798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Enhance Java auth to cover the analysis dashboard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9" name="Oval"/>
          <p:cNvSpPr>
            <a:spLocks/>
          </p:cNvSpPr>
          <p:nvPr/>
        </p:nvSpPr>
        <p:spPr>
          <a:xfrm rot="0">
            <a:off x="6583680" y="3995928"/>
            <a:ext cx="457200" cy="457200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sp>
        <p:nvSpPr>
          <p:cNvPr id="370" name="Rectangles"/>
          <p:cNvSpPr>
            <a:spLocks/>
          </p:cNvSpPr>
          <p:nvPr/>
        </p:nvSpPr>
        <p:spPr>
          <a:xfrm rot="0">
            <a:off x="6583680" y="3995928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3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71" name="Rectangles"/>
          <p:cNvSpPr>
            <a:spLocks/>
          </p:cNvSpPr>
          <p:nvPr/>
        </p:nvSpPr>
        <p:spPr>
          <a:xfrm rot="0">
            <a:off x="7223760" y="3950207"/>
            <a:ext cx="4114798" cy="5486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Complete parallel run &amp; automated validation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72" name="Oval"/>
          <p:cNvSpPr>
            <a:spLocks/>
          </p:cNvSpPr>
          <p:nvPr/>
        </p:nvSpPr>
        <p:spPr>
          <a:xfrm rot="0">
            <a:off x="6583680" y="4782312"/>
            <a:ext cx="457200" cy="457200"/>
          </a:xfrm>
          <a:prstGeom prst="ellipse"/>
          <a:solidFill>
            <a:srgbClr val="1C7293"/>
          </a:solidFill>
          <a:ln w="12700" cmpd="sng" cap="flat">
            <a:noFill/>
            <a:prstDash val="solid"/>
            <a:miter/>
          </a:ln>
        </p:spPr>
      </p:sp>
      <p:sp>
        <p:nvSpPr>
          <p:cNvPr id="373" name="Rectangles"/>
          <p:cNvSpPr>
            <a:spLocks/>
          </p:cNvSpPr>
          <p:nvPr/>
        </p:nvSpPr>
        <p:spPr>
          <a:xfrm rot="0">
            <a:off x="6583680" y="4782312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4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74" name="Rectangles"/>
          <p:cNvSpPr>
            <a:spLocks/>
          </p:cNvSpPr>
          <p:nvPr/>
        </p:nvSpPr>
        <p:spPr>
          <a:xfrm rot="0">
            <a:off x="7223760" y="4736592"/>
            <a:ext cx="4114798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Confirm milestone dates and resourcing with the team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75" name="Rectangles"/>
          <p:cNvSpPr>
            <a:spLocks/>
          </p:cNvSpPr>
          <p:nvPr/>
        </p:nvSpPr>
        <p:spPr>
          <a:xfrm rot="0">
            <a:off x="6309360" y="5989320"/>
            <a:ext cx="5212080" cy="36575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1" u="none" strike="noStrike" kern="1200" cap="none" spc="0" baseline="0">
                <a:solidFill>
                  <a:srgbClr val="8FB8CC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Questions &amp; discussion welcome.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243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</TotalTime>
  <Application>Honor_Office</Applicat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ILMA Revamp — Tableau to In-House Platform</dc:title>
  <dc:subject>PptxGenJS Presentation</dc:subject>
  <dc:creator>ILMA Team</dc:creator>
  <cp:lastModifiedBy>HONOR Docs</cp:lastModifiedBy>
  <cp:revision>1</cp:revision>
  <dcterms:created xsi:type="dcterms:W3CDTF">2026-06-12T03:28:22Z</dcterms:created>
  <dcterms:modified xsi:type="dcterms:W3CDTF">2026-06-12T04:39:47Z</dcterms:modified>
</cp:coreProperties>
</file>