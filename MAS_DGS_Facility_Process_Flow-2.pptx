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PROCESS 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DGS Facility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collateral-management process in which the GLM team manages a pool of mortgage loans as security for accessing the MAS funding facility.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9834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6350">
            <a:solidFill>
              <a:srgbClr val="3A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Loan List Preparation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0168" y="49834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1C5D7A"/>
          </a:solidFill>
          <a:ln w="6350">
            <a:solidFill>
              <a:srgbClr val="3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MAS Review &amp; Approval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37376" y="49834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14757A"/>
          </a:solidFill>
          <a:ln w="635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Facility Drawdown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44584" y="49834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0E8F86"/>
          </a:solidFill>
          <a:ln w="635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4983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Active Trade Mgmt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74904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54203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35024" y="185623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Loan List Preparation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27157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· RMG · ADA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need to access MAS facility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prepares monthly mortgage list (iCAAP data)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generates Item 2A report ($100k–$150k loans)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reviews &amp; submits list to MAS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3447288"/>
            <a:ext cx="38404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91640"/>
            <a:ext cx="2542032" cy="374904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691640"/>
            <a:ext cx="2542032" cy="960120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39312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61104" y="185623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 &amp; Approval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9312" y="27157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GLM · 20 days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3044952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reviews list (~20 days)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ACCEPT (with haircuts) / REJECT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receives response file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builds "Agreed List" of approved loans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16752" y="3447288"/>
            <a:ext cx="38404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691640"/>
            <a:ext cx="2542032" cy="374904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691640"/>
            <a:ext cx="2542032" cy="960120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5392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87184" y="185623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Drawdown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65392" y="27157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· MAS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3044952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submits drawdown request when DBS needs funding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borrowing amount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confirms collateral, prices, tenor &amp; dates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Deed of Assignment &amp; Sale Notices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942832" y="3447288"/>
            <a:ext cx="384048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1691640"/>
            <a:ext cx="2542032" cy="374904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0" y="1691640"/>
            <a:ext cx="2542032" cy="96012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30" name="Shape 28"/>
          <p:cNvSpPr/>
          <p:nvPr/>
        </p:nvSpPr>
        <p:spPr>
          <a:xfrm>
            <a:off x="9491472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491472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113264" y="185623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 Management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491472" y="27157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· Finance · MAS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509760" y="3044952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encumbered loans through trade period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Txn Account Stmt, redemptions, GL reports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Item 3A Investor Report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loan performance &amp; payments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run sequentially each cycle; matured loans return to the pool and the cycle repeats monthly.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–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Preparation, Review &amp; Approval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773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Loan List Preparation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82296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57860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identifies the need to access the MAS facility for funding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3264408"/>
            <a:ext cx="201168" cy="292608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661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82296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56616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requests RMG to manually prepare the monthly mortgage loan list (iCAAP data)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5536" y="4251960"/>
            <a:ext cx="201168" cy="292608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5371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53712"/>
            <a:ext cx="82296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537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generates the full Item 2A report — eligible residential mortgages ($100k–$150k)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45536" y="5239512"/>
            <a:ext cx="201168" cy="292608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54126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41264"/>
            <a:ext cx="82296" cy="6766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54126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reviews and submits the loan list to MAS for approval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394960" cy="713232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5664" y="1773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22592" y="1645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 &amp; Approval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25786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578608"/>
            <a:ext cx="82296" cy="676656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257860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takes ~20 days to review the submitted loan list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06256" y="3264408"/>
            <a:ext cx="201168" cy="292608"/>
          </a:xfrm>
          <a:prstGeom prst="downArrow">
            <a:avLst/>
          </a:prstGeom>
          <a:solidFill>
            <a:srgbClr val="1C5D7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5661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566160"/>
            <a:ext cx="82296" cy="676656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356616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returns ACCEPT (with indicative haircut values) and REJECT decisions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06256" y="4251960"/>
            <a:ext cx="201168" cy="292608"/>
          </a:xfrm>
          <a:prstGeom prst="downArrow">
            <a:avLst/>
          </a:prstGeom>
          <a:solidFill>
            <a:srgbClr val="1C5D7A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455371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553712"/>
            <a:ext cx="82296" cy="676656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5537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receives the MAS response file (typically by email)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06256" y="5239512"/>
            <a:ext cx="201168" cy="292608"/>
          </a:xfrm>
          <a:prstGeom prst="downArrow">
            <a:avLst/>
          </a:prstGeom>
          <a:solidFill>
            <a:srgbClr val="1C5D7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554126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5541264"/>
            <a:ext cx="82296" cy="676656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554126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generates the "Agreed List" containing only MAS-approved loans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 –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Active Trade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713232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773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Drawdown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82296" cy="676656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57860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DBS needs funding, GLM submits a drawdown request to MAS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3264408"/>
            <a:ext cx="201168" cy="292608"/>
          </a:xfrm>
          <a:prstGeom prst="downArrow">
            <a:avLst/>
          </a:prstGeom>
          <a:solidFill>
            <a:srgbClr val="14757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661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82296" cy="676656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56616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specifies the borrowing amount (may be less than full facility size)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5536" y="4251960"/>
            <a:ext cx="201168" cy="292608"/>
          </a:xfrm>
          <a:prstGeom prst="downArrow">
            <a:avLst/>
          </a:prstGeom>
          <a:solidFill>
            <a:srgbClr val="14757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5371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53712"/>
            <a:ext cx="82296" cy="676656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5537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confirms drawdown: collateral, purchase/repurchase prices, tenor &amp; key dates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45536" y="5239512"/>
            <a:ext cx="201168" cy="292608"/>
          </a:xfrm>
          <a:prstGeom prst="downArrow">
            <a:avLst/>
          </a:prstGeom>
          <a:solidFill>
            <a:srgbClr val="14757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54126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41264"/>
            <a:ext cx="82296" cy="676656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54126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generates legal docs ("Schedule to Deed of Assignment") &amp; Sale Notices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394960" cy="713232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5664" y="17739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22592" y="16459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 Management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25786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578608"/>
            <a:ext cx="82296" cy="676656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257860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monitors encumbered loans throughout the trade period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06256" y="3264408"/>
            <a:ext cx="201168" cy="292608"/>
          </a:xfrm>
          <a:prstGeom prst="downArrow">
            <a:avLst/>
          </a:prstGeom>
          <a:solidFill>
            <a:srgbClr val="0E8F8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56616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566160"/>
            <a:ext cx="82296" cy="676656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356616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Transaction Account Statement, watch early redemptions, send GL reports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06256" y="4251960"/>
            <a:ext cx="201168" cy="292608"/>
          </a:xfrm>
          <a:prstGeom prst="downArrow">
            <a:avLst/>
          </a:prstGeom>
          <a:solidFill>
            <a:srgbClr val="0E8F86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455371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4553712"/>
            <a:ext cx="82296" cy="676656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5537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generate the Item 3A Investor Report for MAS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06256" y="5239512"/>
            <a:ext cx="201168" cy="292608"/>
          </a:xfrm>
          <a:prstGeom prst="downArrow">
            <a:avLst/>
          </a:prstGeom>
          <a:solidFill>
            <a:srgbClr val="0E8F86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554126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5541264"/>
            <a:ext cx="82296" cy="676656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554126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loan performance and payments to maturity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 — A Repeating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0798" y="221284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0798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loan list monthly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56460" y="2784348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2449068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51226" y="2212848"/>
            <a:ext cx="585216" cy="585216"/>
          </a:xfrm>
          <a:prstGeom prst="ellipse">
            <a:avLst/>
          </a:prstGeom>
          <a:solidFill>
            <a:srgbClr val="1C5D7A"/>
          </a:solidFill>
          <a:ln/>
        </p:spPr>
      </p:sp>
      <p:sp>
        <p:nvSpPr>
          <p:cNvPr id="12" name="Text 10"/>
          <p:cNvSpPr/>
          <p:nvPr/>
        </p:nvSpPr>
        <p:spPr>
          <a:xfrm>
            <a:off x="2951226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49068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22220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reviews for ~20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56888" y="2784348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9496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51654" y="2212848"/>
            <a:ext cx="585216" cy="585216"/>
          </a:xfrm>
          <a:prstGeom prst="ellipse">
            <a:avLst/>
          </a:prstGeom>
          <a:solidFill>
            <a:srgbClr val="1C5D7A"/>
          </a:solidFill>
          <a:ln/>
        </p:spPr>
      </p:sp>
      <p:sp>
        <p:nvSpPr>
          <p:cNvPr id="18" name="Text 16"/>
          <p:cNvSpPr/>
          <p:nvPr/>
        </p:nvSpPr>
        <p:spPr>
          <a:xfrm>
            <a:off x="4851654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9496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2648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accept / reject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57316" y="2784348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9924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52082" y="2212848"/>
            <a:ext cx="585216" cy="585216"/>
          </a:xfrm>
          <a:prstGeom prst="ellipse">
            <a:avLst/>
          </a:prstGeom>
          <a:solidFill>
            <a:srgbClr val="14757A"/>
          </a:solidFill>
          <a:ln/>
        </p:spPr>
      </p:sp>
      <p:sp>
        <p:nvSpPr>
          <p:cNvPr id="24" name="Text 22"/>
          <p:cNvSpPr/>
          <p:nvPr/>
        </p:nvSpPr>
        <p:spPr>
          <a:xfrm>
            <a:off x="6752082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49924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3076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drawdown when funded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57744" y="2784348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150352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52510" y="2212848"/>
            <a:ext cx="585216" cy="585216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30" name="Text 28"/>
          <p:cNvSpPr/>
          <p:nvPr/>
        </p:nvSpPr>
        <p:spPr>
          <a:xfrm>
            <a:off x="8652510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50352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3504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monthly reporting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758172" y="2784348"/>
            <a:ext cx="2743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0780" y="2011680"/>
            <a:ext cx="1589532" cy="1783080"/>
          </a:xfrm>
          <a:prstGeom prst="roundRect">
            <a:avLst>
              <a:gd name="adj" fmla="val 4602"/>
            </a:avLst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52938" y="2212848"/>
            <a:ext cx="585216" cy="5852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52938" y="22128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050780" y="2907792"/>
            <a:ext cx="1589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23932" y="3218688"/>
            <a:ext cx="14432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loans to pool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343406" y="3794760"/>
            <a:ext cx="0" cy="50292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45546" y="3794760"/>
            <a:ext cx="0" cy="50292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43406" y="4297680"/>
            <a:ext cx="950214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97686" y="4178808"/>
            <a:ext cx="310896" cy="237744"/>
          </a:xfrm>
          <a:prstGeom prst="leftArrow">
            <a:avLst/>
          </a:prstGeom>
          <a:solidFill>
            <a:srgbClr val="D9A44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0" y="4352544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Matured loans return to the available pool — the cycle repeats monthly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lifecycle: 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 →  approval  →  encumbrance  →  maturity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Rules &amp; Reporting Obligations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78892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submit the same loan twice — no double encumbrance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exclude rejected loans from future submissions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loan through its full lifecycle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matured loans to the available pool after the repo period ends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2788920"/>
          </a:xfrm>
          <a:prstGeom prst="rect">
            <a:avLst/>
          </a:prstGeom>
          <a:solidFill>
            <a:srgbClr val="F3F6FB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691640"/>
            <a:ext cx="5486400" cy="566928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Obligations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4231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submit new loan lists to MAS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report on active encumbered loans during the trade period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— generate reports whenever drawdowns occur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889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800600"/>
            <a:ext cx="146304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ESSENCE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28523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collateral-management process where GLM manages a pool of mortgage loans as security for accessing the MAS funding facility.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 DGS Facility - Business User Process Flow</dc:title>
  <dc:subject>PptxGenJS Presentation</dc:subject>
  <dc:creator>Wilfred</dc:creator>
  <cp:lastModifiedBy>Wilfred</cp:lastModifiedBy>
  <cp:revision>1</cp:revision>
  <dcterms:created xsi:type="dcterms:W3CDTF">2026-05-29T01:24:48Z</dcterms:created>
  <dcterms:modified xsi:type="dcterms:W3CDTF">2026-05-29T01:24:48Z</dcterms:modified>
</cp:coreProperties>
</file>