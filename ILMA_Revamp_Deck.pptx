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023360" cy="402336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822960"/>
            <a:ext cx="2377440" cy="23774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ILMA REVAMP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ILMS Reporting Platform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changing  ·  Why it matters  ·  How we deliver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4069080" cy="640080"/>
          </a:xfrm>
          <a:prstGeom prst="roundRect">
            <a:avLst>
              <a:gd name="adj" fmla="val 14286"/>
            </a:avLst>
          </a:prstGeom>
          <a:solidFill>
            <a:srgbClr val="2C38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471830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16736" y="4572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→ review &amp; approve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937760" y="4572000"/>
            <a:ext cx="4069080" cy="640080"/>
          </a:xfrm>
          <a:prstGeom prst="roundRect">
            <a:avLst>
              <a:gd name="adj" fmla="val 14286"/>
            </a:avLst>
          </a:prstGeom>
          <a:solidFill>
            <a:srgbClr val="2C38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47183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14416" y="4572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→ tech review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Aung Maw  ·  ILMA 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29260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8851392" y="292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EVERYONE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one team, owned end-to-end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delivering the ILMA dashboard as a module inside the ILMS React web application — powered by an in-house Python processing engine, secured by our enhanced Java authentication, all running on OpenShift. A hybrid model that evolves ILMS reporting and keeps what works for users, with no loss of performance.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2670048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30632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32461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390448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one team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" y="454456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end-to-end — fewer handoffs and fewer points of failure.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83280" y="2788920"/>
            <a:ext cx="2670048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39312" y="30632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32461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84448" y="390448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available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84448" y="454456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download reports anytime, even during outages.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17920" y="2788920"/>
            <a:ext cx="2670048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73952" y="30632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32461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19088" y="390448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capabilities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19088" y="454456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and validation, built into the platform.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052560" y="2788920"/>
            <a:ext cx="2670048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308592" y="30632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324612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53728" y="390448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experience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253728" y="454456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login, one web application alongside existing tools.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on: business case (slides 3–4) for approval, then technical design (slides 5–9) for review.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29260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0F9D8C"/>
          </a:solidFill>
          <a:ln/>
        </p:spPr>
      </p:sp>
      <p:sp>
        <p:nvSpPr>
          <p:cNvPr id="3" name="Text 1"/>
          <p:cNvSpPr/>
          <p:nvPr/>
        </p:nvSpPr>
        <p:spPr>
          <a:xfrm>
            <a:off x="8851392" y="292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  ·  Business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THE WHY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change: today's pain points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406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84832"/>
            <a:ext cx="777240" cy="777240"/>
          </a:xfrm>
          <a:prstGeom prst="ellipse">
            <a:avLst/>
          </a:prstGeom>
          <a:solidFill>
            <a:srgbClr val="9A3B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860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1031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874520" y="2578608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6EAEA"/>
          </a:solidFill>
          <a:ln/>
        </p:spPr>
      </p:sp>
      <p:sp>
        <p:nvSpPr>
          <p:cNvPr id="11" name="Text 8"/>
          <p:cNvSpPr/>
          <p:nvPr/>
        </p:nvSpPr>
        <p:spPr>
          <a:xfrm>
            <a:off x="1874520" y="25786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feel this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14400" y="31089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go dark whenever Tableau is down — and there is no way to export or download them.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99632" y="1737360"/>
            <a:ext cx="54406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19672" y="2084832"/>
            <a:ext cx="777240" cy="777240"/>
          </a:xfrm>
          <a:prstGeom prst="ellipse">
            <a:avLst/>
          </a:prstGeom>
          <a:solidFill>
            <a:srgbClr val="9A3B3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8600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25512" y="21031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Maintainability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7525512" y="2578608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6EAEA"/>
          </a:solidFill>
          <a:ln/>
        </p:spPr>
      </p:sp>
      <p:sp>
        <p:nvSpPr>
          <p:cNvPr id="18" name="Text 14"/>
          <p:cNvSpPr/>
          <p:nvPr/>
        </p:nvSpPr>
        <p:spPr>
          <a:xfrm>
            <a:off x="7525512" y="25786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feel this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565392" y="31089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Duplicated, tightly coupled logic across two systems, with no automated regression testing after changes.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48640" y="452628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E3F0F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68680" y="48188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919472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08760" y="452628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new platform answers this: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access with report downloads even during outages, plus decoupled logic and automated regression testing for safer, faster changes.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29260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0F9D8C"/>
          </a:solidFill>
          <a:ln/>
        </p:spPr>
      </p:sp>
      <p:sp>
        <p:nvSpPr>
          <p:cNvPr id="3" name="Text 1"/>
          <p:cNvSpPr/>
          <p:nvPr/>
        </p:nvSpPr>
        <p:spPr>
          <a:xfrm>
            <a:off x="8851392" y="292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  ·  Business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WHAT YOU GAIN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Convenience and new capabilities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670048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5856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1993392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Available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72768" y="2523744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download reports anytime — even during outages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3280" y="1737360"/>
            <a:ext cx="2670048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21024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25856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07408" y="1993392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Changes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407408" y="2523744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appcode CR for all changes. No TMTB, no RBAC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1737360"/>
            <a:ext cx="2670048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55664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25856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42048" y="1993392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Access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242048" y="2523744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auto-assigned by internal region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052560" y="1737360"/>
            <a:ext cx="2670048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290304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52" y="225856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76688" y="1993392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0076688" y="2523744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checks after every change — new ability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3511296"/>
            <a:ext cx="2670048" cy="1572768"/>
          </a:xfrm>
          <a:prstGeom prst="roundRect">
            <a:avLst>
              <a:gd name="adj" fmla="val 5233"/>
            </a:avLst>
          </a:prstGeom>
          <a:solidFill>
            <a:srgbClr val="D7E6E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86384" y="3877056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032504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72768" y="3767328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Validation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572768" y="4297680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vs existing outputs compared automatically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3383280" y="3511296"/>
            <a:ext cx="2670048" cy="1572768"/>
          </a:xfrm>
          <a:prstGeom prst="roundRect">
            <a:avLst>
              <a:gd name="adj" fmla="val 5233"/>
            </a:avLst>
          </a:prstGeom>
          <a:solidFill>
            <a:srgbClr val="D7E6E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621024" y="3877056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6472" y="4032504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407408" y="3767328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Insight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4407408" y="4297680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Quicker processing for timelier decisions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217920" y="3511296"/>
            <a:ext cx="2670048" cy="1572768"/>
          </a:xfrm>
          <a:prstGeom prst="roundRect">
            <a:avLst>
              <a:gd name="adj" fmla="val 5233"/>
            </a:avLst>
          </a:prstGeom>
          <a:solidFill>
            <a:srgbClr val="D7E6E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455664" y="3877056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4032504"/>
            <a:ext cx="329184" cy="32918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242048" y="3767328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One Team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7242048" y="4297680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handoffs and fewer points of failure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9052560" y="3511296"/>
            <a:ext cx="2670048" cy="1572768"/>
          </a:xfrm>
          <a:prstGeom prst="roundRect">
            <a:avLst>
              <a:gd name="adj" fmla="val 5233"/>
            </a:avLst>
          </a:prstGeom>
          <a:solidFill>
            <a:srgbClr val="D7E6E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290304" y="3877056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5752" y="4032504"/>
            <a:ext cx="329184" cy="329184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10076688" y="3767328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Experience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10076688" y="4297680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login, one web application</a:t>
            </a:r>
            <a:endParaRPr lang="en-US" sz="1050" dirty="0"/>
          </a:p>
        </p:txBody>
      </p:sp>
      <p:sp>
        <p:nvSpPr>
          <p:cNvPr id="46" name="Text 36"/>
          <p:cNvSpPr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reports your users already know — now always available, faster, and far easier to evolve.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29260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3" name="Text 1"/>
          <p:cNvSpPr/>
          <p:nvPr/>
        </p:nvSpPr>
        <p:spPr>
          <a:xfrm>
            <a:off x="8851392" y="292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DETAIL  ·  Tech Review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THE HOW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architecture on OpenShift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3703320"/>
          </a:xfrm>
          <a:prstGeom prst="roundRect">
            <a:avLst>
              <a:gd name="adj" fmla="val 1975"/>
            </a:avLst>
          </a:prstGeom>
          <a:solidFill>
            <a:srgbClr val="ECF3F6"/>
          </a:solidFill>
          <a:ln w="15875">
            <a:solidFill>
              <a:srgbClr val="1C729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745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874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 ·  all services containerized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2423160"/>
            <a:ext cx="10451592" cy="777240"/>
          </a:xfrm>
          <a:prstGeom prst="roundRect">
            <a:avLst>
              <a:gd name="adj" fmla="val 8235"/>
            </a:avLst>
          </a:prstGeom>
          <a:solidFill>
            <a:srgbClr val="065A82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3347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81912" y="2423160"/>
            <a:ext cx="9537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React Web App (shared SPA)   </a:t>
            </a:r>
            <a:pPr indent="0" marL="0">
              <a:buNone/>
            </a:pPr>
            <a:r>
              <a:rPr lang="en-US" sz="12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modules + new ILMA dashboard · Material UI · Apache ECharts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68680" y="3383280"/>
            <a:ext cx="5088636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097280" y="3611880"/>
            <a:ext cx="566928" cy="56692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373989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28800" y="3584448"/>
            <a:ext cx="3991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Services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143000" y="4096512"/>
            <a:ext cx="45857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authentication (enhanced to cover both main reporting and the analysis dashboard) + other existing services.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31636" y="3383280"/>
            <a:ext cx="5088636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60236" y="36118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3739896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91756" y="3584448"/>
            <a:ext cx="3991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Container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6505956" y="4096512"/>
            <a:ext cx="45857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data-processing engine: FastAPI (API layer) + Pandas (transforms).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D7E6EE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742432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80160" y="55778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store: 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(approved ILMS pattern)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One standardized API endpoint serves all dashboard data queries.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29260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3" name="Text 1"/>
          <p:cNvSpPr/>
          <p:nvPr/>
        </p:nvSpPr>
        <p:spPr>
          <a:xfrm>
            <a:off x="8851392" y="292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DETAIL  ·  Tech Review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THE HOW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fits together — reuse, don't silo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2082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5798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92938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added onto the main React codebase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00200" y="2286000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standalone app — a module in the shared SPA. One web application, one login, consistent UX.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953512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19125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32841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309981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processing parked in a Python container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1600200" y="3456432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OpenShift alongside the existing Java service containers.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123944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36168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9884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27024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via enhanced Java auth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600200" y="4626864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extend the existing auth service so one identity layer covers both ILMS users and developers — automatically assigning roles by the user's region, with no new identity stack and no manual RBAC.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5294376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5532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66928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00200" y="54406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standardized API endpoint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1600200" y="5797296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dashboard data queries flow through a single, consistent API — using workflow_name / view_name parameters.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29260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3" name="Text 1"/>
          <p:cNvSpPr/>
          <p:nvPr/>
        </p:nvSpPr>
        <p:spPr>
          <a:xfrm>
            <a:off x="8851392" y="292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DETAIL  ·  Tech Review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THE HOW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engineering improvements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40680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48256"/>
            <a:ext cx="749808" cy="74980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2402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011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Decoupled business logic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783080" y="246888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mapping &amp; join conditions separated from plumbing — written as SQL, not buried in file/DB code.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0488" y="1737360"/>
            <a:ext cx="5440680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64808" y="2048256"/>
            <a:ext cx="749808" cy="7498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2402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24928" y="2011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Python “Steps”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424928" y="246888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/ workflow-driven building blocks (read · transform · write) replace duplicated code across reports.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602736"/>
            <a:ext cx="5440680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3913632"/>
            <a:ext cx="749808" cy="74980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105656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387705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data validation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783080" y="4334256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outputs auto-compared against existing reports — already running without issue, ensuring correctness before cutover.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190488" y="3602736"/>
            <a:ext cx="5440680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64808" y="3913632"/>
            <a:ext cx="749808" cy="7498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105656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24928" y="387705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regression testing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424928" y="4334256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steps and decoupled logic enable automated checks after every change — a capability Tableau cannot provide.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29260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3" name="Text 1"/>
          <p:cNvSpPr/>
          <p:nvPr/>
        </p:nvSpPr>
        <p:spPr>
          <a:xfrm>
            <a:off x="8851392" y="292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DETAIL  ·  Tech Review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THE HOW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approach &amp; status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70048" cy="288036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72184" y="21488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496" y="235915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06324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331012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49808" y="370332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Python container &amp; dashboard module on OpenShift.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106424" y="42519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F9D8C"/>
          </a:solidFill>
          <a:ln/>
        </p:spPr>
      </p:sp>
      <p:sp>
        <p:nvSpPr>
          <p:cNvPr id="13" name="Text 10"/>
          <p:cNvSpPr/>
          <p:nvPr/>
        </p:nvSpPr>
        <p:spPr>
          <a:xfrm>
            <a:off x="1106424" y="42519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83280" y="1828800"/>
            <a:ext cx="2670048" cy="288036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06824" y="21488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2359152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66160" y="306324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566160" y="331012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run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3584448" y="370332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ILMS reporting in parallel; no disruption to users.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941064" y="42519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7E6EE"/>
          </a:solidFill>
          <a:ln/>
        </p:spPr>
      </p:sp>
      <p:sp>
        <p:nvSpPr>
          <p:cNvPr id="21" name="Text 17"/>
          <p:cNvSpPr/>
          <p:nvPr/>
        </p:nvSpPr>
        <p:spPr>
          <a:xfrm>
            <a:off x="3941064" y="42519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217920" y="1828800"/>
            <a:ext cx="2670048" cy="288036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141464" y="21488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76" y="2359152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00800" y="306324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400800" y="331012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6419088" y="370332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comparison of new vs existing report outputs.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775704" y="42519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7E6EE"/>
          </a:solidFill>
          <a:ln/>
        </p:spPr>
      </p:sp>
      <p:sp>
        <p:nvSpPr>
          <p:cNvPr id="29" name="Text 24"/>
          <p:cNvSpPr/>
          <p:nvPr/>
        </p:nvSpPr>
        <p:spPr>
          <a:xfrm>
            <a:off x="6775704" y="42519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9052560" y="1828800"/>
            <a:ext cx="2670048" cy="288036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976104" y="21488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6416" y="2359152"/>
            <a:ext cx="402336" cy="40233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35440" y="306324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9235440" y="331012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Cutover</a:t>
            </a:r>
            <a:endParaRPr lang="en-US" sz="1700" dirty="0"/>
          </a:p>
        </p:txBody>
      </p:sp>
      <p:sp>
        <p:nvSpPr>
          <p:cNvPr id="35" name="Text 29"/>
          <p:cNvSpPr/>
          <p:nvPr/>
        </p:nvSpPr>
        <p:spPr>
          <a:xfrm>
            <a:off x="9253728" y="370332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users to ILMS reporting.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9610344" y="42519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7E6EE"/>
          </a:solidFill>
          <a:ln/>
        </p:spPr>
      </p:sp>
      <p:sp>
        <p:nvSpPr>
          <p:cNvPr id="37" name="Text 31"/>
          <p:cNvSpPr/>
          <p:nvPr/>
        </p:nvSpPr>
        <p:spPr>
          <a:xfrm>
            <a:off x="9610344" y="42519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548640" y="5074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is proven before transition: every new report is automatically compared against the current report output.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548640" y="5440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Dates &amp; milestones — to be filled in with the team 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51392" y="29260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3" name="Text 1"/>
          <p:cNvSpPr/>
          <p:nvPr/>
        </p:nvSpPr>
        <p:spPr>
          <a:xfrm>
            <a:off x="8851392" y="292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DETAIL  ·  Tech Review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HONEST CLOSER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Risks, considerations &amp; next steps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7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303520" cy="1207008"/>
          </a:xfrm>
          <a:prstGeom prst="roundRect">
            <a:avLst>
              <a:gd name="adj" fmla="val 6818"/>
            </a:avLst>
          </a:prstGeom>
          <a:solidFill>
            <a:srgbClr val="2C386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59152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 shifts in-house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08760" y="265176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on-call shift to the ILMA team — previously absorbed by Tableau.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3456432"/>
            <a:ext cx="5303520" cy="1207008"/>
          </a:xfrm>
          <a:prstGeom prst="roundRect">
            <a:avLst>
              <a:gd name="adj" fmla="val 6818"/>
            </a:avLst>
          </a:prstGeom>
          <a:solidFill>
            <a:srgbClr val="2C386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12464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36393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codebase coordination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508760" y="400507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lives in a React app owned with other teams.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809744"/>
            <a:ext cx="5303520" cy="1207008"/>
          </a:xfrm>
          <a:prstGeom prst="roundRect">
            <a:avLst>
              <a:gd name="adj" fmla="val 6818"/>
            </a:avLst>
          </a:prstGeom>
          <a:solidFill>
            <a:srgbClr val="2C386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65776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9926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coverage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08760" y="5358384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internal depth in React, Python and container ops.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30936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7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09360" y="2103120"/>
            <a:ext cx="5212080" cy="3712464"/>
          </a:xfrm>
          <a:prstGeom prst="roundRect">
            <a:avLst>
              <a:gd name="adj" fmla="val 2463"/>
            </a:avLst>
          </a:prstGeom>
          <a:solidFill>
            <a:srgbClr val="2C386E"/>
          </a:solidFill>
          <a:ln/>
        </p:spPr>
      </p:sp>
      <p:sp>
        <p:nvSpPr>
          <p:cNvPr id="21" name="Shape 16"/>
          <p:cNvSpPr/>
          <p:nvPr/>
        </p:nvSpPr>
        <p:spPr>
          <a:xfrm>
            <a:off x="6583680" y="2423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17"/>
          <p:cNvSpPr/>
          <p:nvPr/>
        </p:nvSpPr>
        <p:spPr>
          <a:xfrm>
            <a:off x="65836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7223760" y="2377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approval to proceed with cutover plan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6583680" y="32095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0"/>
          <p:cNvSpPr/>
          <p:nvPr/>
        </p:nvSpPr>
        <p:spPr>
          <a:xfrm>
            <a:off x="658368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7223760" y="316382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Java auth to cover the analysis dashboard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6583680" y="39959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3"/>
          <p:cNvSpPr/>
          <p:nvPr/>
        </p:nvSpPr>
        <p:spPr>
          <a:xfrm>
            <a:off x="658368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7223760" y="39502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parallel run &amp; automated validation</a:t>
            </a:r>
            <a:endParaRPr lang="en-US" sz="1350" dirty="0"/>
          </a:p>
        </p:txBody>
      </p:sp>
      <p:sp>
        <p:nvSpPr>
          <p:cNvPr id="30" name="Shape 25"/>
          <p:cNvSpPr/>
          <p:nvPr/>
        </p:nvSpPr>
        <p:spPr>
          <a:xfrm>
            <a:off x="6583680" y="47823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6"/>
          <p:cNvSpPr/>
          <p:nvPr/>
        </p:nvSpPr>
        <p:spPr>
          <a:xfrm>
            <a:off x="658368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32" name="Text 27"/>
          <p:cNvSpPr/>
          <p:nvPr/>
        </p:nvSpPr>
        <p:spPr>
          <a:xfrm>
            <a:off x="7223760" y="47365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milestone dates and resourcing with the team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6309360" y="5989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ILMS Reporting Platform</dc:title>
  <dc:subject>PptxGenJS Presentation</dc:subject>
  <dc:creator>ILMA Team</dc:creator>
  <cp:lastModifiedBy>ILMA Team</cp:lastModifiedBy>
  <cp:revision>1</cp:revision>
  <dcterms:created xsi:type="dcterms:W3CDTF">2026-06-21T15:49:34Z</dcterms:created>
  <dcterms:modified xsi:type="dcterms:W3CDTF">2026-06-21T15:49:34Z</dcterms:modified>
</cp:coreProperties>
</file>