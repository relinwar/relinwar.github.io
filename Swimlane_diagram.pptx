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DGS FACILITY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 Process 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4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&amp; swimlane diagrams across the four phases of the collateral-management process — GLM manages a pool of mortgage loans as security for accessing the MAS funding facility.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Loan List Preparation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858768"/>
            <a:ext cx="457200" cy="457200"/>
          </a:xfrm>
          <a:prstGeom prst="ellipse">
            <a:avLst/>
          </a:prstGeom>
          <a:solidFill>
            <a:srgbClr val="1C5D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858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 &amp; Approval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517136"/>
            <a:ext cx="457200" cy="457200"/>
          </a:xfrm>
          <a:prstGeom prst="ellipse">
            <a:avLst/>
          </a:prstGeom>
          <a:solidFill>
            <a:srgbClr val="1475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5171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Drawdown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5175504"/>
            <a:ext cx="457200" cy="457200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1755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 Management</a:t>
            </a:r>
            <a:endParaRPr lang="en-US" sz="1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3291840"/>
            <a:ext cx="365760" cy="39319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195560" y="3310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/ Team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931920"/>
            <a:ext cx="411480" cy="3931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195560" y="3950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(MAS / DBS)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802368" y="4617720"/>
            <a:ext cx="36576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19556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Output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6345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Loan List Preparation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74920" y="2743200"/>
            <a:ext cx="96012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2743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1417320"/>
            <a:ext cx="475488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7482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Team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2514600"/>
            <a:ext cx="475488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2788920"/>
            <a:ext cx="475488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554980" y="2331720"/>
            <a:ext cx="0" cy="41148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4" name="Text 9"/>
          <p:cNvSpPr/>
          <p:nvPr/>
        </p:nvSpPr>
        <p:spPr>
          <a:xfrm>
            <a:off x="6309360" y="19933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Generates and manually uploads RiskMart data to ADA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429000" y="3200400"/>
            <a:ext cx="16459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6" name="Text 11"/>
          <p:cNvSpPr/>
          <p:nvPr/>
        </p:nvSpPr>
        <p:spPr>
          <a:xfrm>
            <a:off x="3611880" y="2743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Funding Need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0936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ADA team generates 2A report (eligible residential mortgages) with Finacle / RiskMart data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4572000"/>
            <a:ext cx="10789920" cy="0"/>
          </a:xfrm>
          <a:prstGeom prst="line">
            <a:avLst/>
          </a:prstGeom>
          <a:noFill/>
          <a:ln w="15875">
            <a:solidFill>
              <a:srgbClr val="7A8499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640080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3017520" y="3383280"/>
            <a:ext cx="0" cy="1828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320040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GLM reviews and submits the loan list to MAS for approval via email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326880" y="3611880"/>
            <a:ext cx="0" cy="16002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23" name="Text 18"/>
          <p:cNvSpPr/>
          <p:nvPr/>
        </p:nvSpPr>
        <p:spPr>
          <a:xfrm>
            <a:off x="9555480" y="46817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MAS takes ~20 days to review the submitted loan list</a:t>
            </a:r>
            <a:endParaRPr lang="en-US" sz="11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4" y="5285232"/>
            <a:ext cx="530352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3736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2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4" y="5285232"/>
            <a:ext cx="530352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6345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Review &amp; Approval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856" y="2468880"/>
            <a:ext cx="475488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66560" y="23317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5875">
            <a:solidFill>
              <a:srgbClr val="1C5D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2331720"/>
            <a:ext cx="73152" cy="914400"/>
          </a:xfrm>
          <a:prstGeom prst="rect">
            <a:avLst/>
          </a:prstGeom>
          <a:solidFill>
            <a:srgbClr val="1C5D7A"/>
          </a:solidFill>
          <a:ln/>
        </p:spPr>
      </p:sp>
      <p:sp>
        <p:nvSpPr>
          <p:cNvPr id="9" name="Text 6"/>
          <p:cNvSpPr/>
          <p:nvPr/>
        </p:nvSpPr>
        <p:spPr>
          <a:xfrm>
            <a:off x="6931152" y="233172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"Agreed List" — MAS-approved loans only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60520" y="2697480"/>
            <a:ext cx="26060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4805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GLM generates the Agreed List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GLM receives the MAS response file (via email)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4572000"/>
            <a:ext cx="10789920" cy="0"/>
          </a:xfrm>
          <a:prstGeom prst="line">
            <a:avLst/>
          </a:prstGeom>
          <a:noFill/>
          <a:ln w="15875">
            <a:solidFill>
              <a:srgbClr val="7A8499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40080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5285232"/>
            <a:ext cx="530352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657600" y="3383280"/>
            <a:ext cx="0" cy="1828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3886200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 reviews the submitted loan list (~20 days)</a:t>
            </a:r>
            <a:endParaRPr lang="en-US" sz="11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Returns ACCEPT (with indicative haircut values) and REJECT decisions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6345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7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Drawdown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2468880"/>
            <a:ext cx="475488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918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944" y="2487168"/>
            <a:ext cx="530352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980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423160" y="2697480"/>
            <a:ext cx="16459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2468880" y="19933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DBS needs funding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040880" y="219456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2F6FA"/>
          </a:solidFill>
          <a:ln w="15875">
            <a:solidFill>
              <a:srgbClr val="1475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40880" y="2194560"/>
            <a:ext cx="73152" cy="777240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3" name="Text 9"/>
          <p:cNvSpPr/>
          <p:nvPr/>
        </p:nvSpPr>
        <p:spPr>
          <a:xfrm>
            <a:off x="7205472" y="219456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"Schedule to Deed of Assignment"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40880" y="3291840"/>
            <a:ext cx="2697480" cy="731520"/>
          </a:xfrm>
          <a:prstGeom prst="roundRect">
            <a:avLst>
              <a:gd name="adj" fmla="val 7500"/>
            </a:avLst>
          </a:prstGeom>
          <a:solidFill>
            <a:srgbClr val="F2F6FA"/>
          </a:solidFill>
          <a:ln w="15875">
            <a:solidFill>
              <a:srgbClr val="1475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0" y="3291840"/>
            <a:ext cx="73152" cy="731520"/>
          </a:xfrm>
          <a:prstGeom prst="rect">
            <a:avLst/>
          </a:prstGeom>
          <a:solidFill>
            <a:srgbClr val="14757A"/>
          </a:solidFill>
          <a:ln/>
        </p:spPr>
      </p:sp>
      <p:sp>
        <p:nvSpPr>
          <p:cNvPr id="16" name="Text 12"/>
          <p:cNvSpPr/>
          <p:nvPr/>
        </p:nvSpPr>
        <p:spPr>
          <a:xfrm>
            <a:off x="7205472" y="3291840"/>
            <a:ext cx="2441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Notice documents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74920" y="2468880"/>
            <a:ext cx="19659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5212080" y="20848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Legal documentation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74920" y="3611880"/>
            <a:ext cx="19659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1208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Sale notices produced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66928" y="4572000"/>
            <a:ext cx="10789920" cy="0"/>
          </a:xfrm>
          <a:prstGeom prst="line">
            <a:avLst/>
          </a:prstGeom>
          <a:noFill/>
          <a:ln w="15875">
            <a:solidFill>
              <a:srgbClr val="7A8499"/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40080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2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5285232"/>
            <a:ext cx="530352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9184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297680" y="3383280"/>
            <a:ext cx="0" cy="1828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64008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GLM submits drawdown request to MAS (specifies borrowing amount)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846320" y="3383280"/>
            <a:ext cx="0" cy="182880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28" name="Text 23"/>
          <p:cNvSpPr/>
          <p:nvPr/>
        </p:nvSpPr>
        <p:spPr>
          <a:xfrm>
            <a:off x="548640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 confirms drawdown: collateral (encumbered loans), purchase / repurchase prices, tenor &amp; key dates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6345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 monitors encumbered loans throughout the trade period — daily and monthly obligations below.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2331720"/>
            <a:ext cx="475488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Team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2395728"/>
            <a:ext cx="566928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 Customers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2377440"/>
            <a:ext cx="475488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10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2788920" y="2606040"/>
            <a:ext cx="25603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3" name="Text 8"/>
          <p:cNvSpPr/>
          <p:nvPr/>
        </p:nvSpPr>
        <p:spPr>
          <a:xfrm>
            <a:off x="29260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monitor early loan redemptions by DBS customers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355080" y="2606040"/>
            <a:ext cx="28346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5" name="Text 10"/>
          <p:cNvSpPr/>
          <p:nvPr/>
        </p:nvSpPr>
        <p:spPr>
          <a:xfrm>
            <a:off x="658368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send General Ledger reports to Finance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4572000"/>
            <a:ext cx="10789920" cy="0"/>
          </a:xfrm>
          <a:prstGeom prst="line">
            <a:avLst/>
          </a:prstGeom>
          <a:noFill/>
          <a:ln w="15875">
            <a:solidFill>
              <a:srgbClr val="7A8499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640080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2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5285232"/>
            <a:ext cx="530352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349240" y="3017520"/>
            <a:ext cx="0" cy="21945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21" name="Text 15"/>
          <p:cNvSpPr/>
          <p:nvPr/>
        </p:nvSpPr>
        <p:spPr>
          <a:xfrm>
            <a:off x="233172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generate Transaction Account Statement for MAS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55080" y="3017520"/>
            <a:ext cx="0" cy="219456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23" name="Text 17"/>
          <p:cNvSpPr/>
          <p:nvPr/>
        </p:nvSpPr>
        <p:spPr>
          <a:xfrm>
            <a:off x="64922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generate Item 3A Investor Report for MAS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6199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monthly: track loan performance &amp; payments — matured loans then return to the available pool.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 DGS Facility — Process Flow Diagrams</dc:title>
  <dc:subject>PptxGenJS Presentation</dc:subject>
  <dc:creator>Wilfred</dc:creator>
  <cp:lastModifiedBy>Wilfred</cp:lastModifiedBy>
  <cp:revision>1</cp:revision>
  <dcterms:created xsi:type="dcterms:W3CDTF">2026-05-29T06:00:52Z</dcterms:created>
  <dcterms:modified xsi:type="dcterms:W3CDTF">2026-05-29T06:00:52Z</dcterms:modified>
</cp:coreProperties>
</file>